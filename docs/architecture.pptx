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4.png"/><Relationship Id="rId7" Type="http://schemas.openxmlformats.org/officeDocument/2006/relationships/image" Target="../media/image14.png"/><Relationship Id="rId8" Type="http://schemas.openxmlformats.org/officeDocument/2006/relationships/image" Target="../media/image3.png"/><Relationship Id="rId9" Type="http://schemas.openxmlformats.org/officeDocument/2006/relationships/image" Target="../media/image5.png"/><Relationship Id="rId10" Type="http://schemas.openxmlformats.org/officeDocument/2006/relationships/image" Target="../media/image6.png"/><Relationship Id="rId11" Type="http://schemas.openxmlformats.org/officeDocument/2006/relationships/image" Target="../media/image10.png"/><Relationship Id="rId12" Type="http://schemas.openxmlformats.org/officeDocument/2006/relationships/image" Target="../media/image7.png"/><Relationship Id="rId13" Type="http://schemas.openxmlformats.org/officeDocument/2006/relationships/image" Target="../media/image8.png"/><Relationship Id="rId14" Type="http://schemas.openxmlformats.org/officeDocument/2006/relationships/image" Target="../media/image9.png"/><Relationship Id="rId15" Type="http://schemas.openxmlformats.org/officeDocument/2006/relationships/image" Target="../media/image13.png"/><Relationship Id="rId16" Type="http://schemas.openxmlformats.org/officeDocument/2006/relationships/image" Target="../media/image12.png"/><Relationship Id="rId17" Type="http://schemas.openxmlformats.org/officeDocument/2006/relationships/image" Target="../media/image11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91440"/>
            <a:ext cx="8869680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000" b="1">
                <a:solidFill>
                  <a:srgbClr val="232F3E"/>
                </a:solidFill>
                <a:latin typeface="Noto Sans JP"/>
                <a:ea typeface="Noto Sans JP"/>
              </a:rPr>
              <a:t>netops-biz 通信の流れ（東京リージョン・閉域）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93776"/>
            <a:ext cx="886968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>
                <a:solidFill>
                  <a:srgbClr val="545B64"/>
                </a:solidFill>
                <a:latin typeface="Noto Sans JP"/>
                <a:ea typeface="Noto Sans JP"/>
              </a:rPr>
              <a:t>①→⑦ の順に読む。実線の矢印はデータと呼び出しの向き、破線は人の操作とポーリング。VPC にインターネットへの経路は無く（IGW・NAT Gateway 無し）、AWS の API へは VPC エンドポイントだけを通る。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0" y="91440"/>
            <a:ext cx="5166360" cy="603504"/>
          </a:xfrm>
          <a:prstGeom prst="rect">
            <a:avLst/>
          </a:prstGeom>
          <a:solidFill>
            <a:srgbClr val="FFF4E5"/>
          </a:solidFill>
          <a:ln w="15875">
            <a:solidFill>
              <a:srgbClr val="D1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0" y="118872"/>
            <a:ext cx="502920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>
                <a:solidFill>
                  <a:srgbClr val="D16B00"/>
                </a:solidFill>
                <a:latin typeface="Noto Sans JP"/>
                <a:ea typeface="Noto Sans JP"/>
              </a:rPr>
              <a:t>※ 本番の想定は 2 AZ 冗長（配置は次のスライド）。PoC は単一 AZ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・EC2・ECS のタスク・内部 NLB・tools Lambda はサブネット a に 1 つずつ、Neptune は 1 台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・2 AZ にまたがるのは MSK・EMR Serverless・Runtime・graph Lambda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896112"/>
            <a:ext cx="13286232" cy="7242048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4440" y="896112"/>
            <a:ext cx="274320" cy="274320"/>
          </a:xfrm>
          <a:prstGeom prst="rect">
            <a:avLst/>
          </a:prstGeom>
          <a:solidFill>
            <a:srgbClr val="00A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914400"/>
            <a:ext cx="82296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Noto Sans JP"/>
                <a:ea typeface="Noto Sans JP"/>
              </a:rPr>
              <a:t>東京リージョン（ap-northeast-1）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481328" y="1261872"/>
            <a:ext cx="4325112" cy="1618488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27048" y="1280160"/>
            <a:ext cx="82296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① 収集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261872"/>
            <a:ext cx="1463040" cy="1618488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280160"/>
            <a:ext cx="82296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② ストリーム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261872"/>
            <a:ext cx="3200400" cy="1618488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1280160"/>
            <a:ext cx="82296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③ 分析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064240" y="1261872"/>
            <a:ext cx="3063239" cy="2807208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09960" y="1280160"/>
            <a:ext cx="82296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④ 格納（Spark の書き先）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1328" y="2999232"/>
            <a:ext cx="9354312" cy="1645920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27048" y="3017520"/>
            <a:ext cx="82296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⑤ 検知 → 調査 → 承認 → 修復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4773168"/>
            <a:ext cx="9354312" cy="2194560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27048" y="4791455"/>
            <a:ext cx="82296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⑥ チャット（AI エージェント）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064240" y="4773168"/>
            <a:ext cx="3063239" cy="2194560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09960" y="4791455"/>
            <a:ext cx="82296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⑦ 可視化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81328" y="7223760"/>
            <a:ext cx="12646151" cy="841247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27048" y="7242048"/>
            <a:ext cx="82296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共通</a:t>
            </a:r>
          </a:p>
        </p:txBody>
      </p:sp>
      <p:pic>
        <p:nvPicPr>
          <p:cNvPr id="25" name="Picture 24" descr="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79" y="5212080"/>
            <a:ext cx="457200" cy="457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8579" y="5687568"/>
            <a:ext cx="11430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運用者の PC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ブラウザ（localhost）</a:t>
            </a:r>
          </a:p>
        </p:txBody>
      </p:sp>
      <p:pic>
        <p:nvPicPr>
          <p:cNvPr id="27" name="Picture 26" descr="e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1874519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08760" y="2350008"/>
            <a:ext cx="13716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lab の EC2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containerlab・SR Linux</a:t>
            </a:r>
          </a:p>
        </p:txBody>
      </p:sp>
      <p:pic>
        <p:nvPicPr>
          <p:cNvPr id="29" name="Picture 28" descr="elb-network-load-balanc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874519"/>
            <a:ext cx="457200" cy="4572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971800" y="2350008"/>
            <a:ext cx="128016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内部 NLB（UDP）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162→1162・5140</a:t>
            </a:r>
          </a:p>
        </p:txBody>
      </p:sp>
      <p:pic>
        <p:nvPicPr>
          <p:cNvPr id="31" name="Picture 30" descr="farg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1874519"/>
            <a:ext cx="457200" cy="457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343400" y="2350008"/>
            <a:ext cx="13716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Telegraf（ECS）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SNMP・gNMI・trap・syslog</a:t>
            </a:r>
          </a:p>
        </p:txBody>
      </p:sp>
      <p:pic>
        <p:nvPicPr>
          <p:cNvPr id="33" name="Picture 32" descr="managed-streaming-for-kafk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1874519"/>
            <a:ext cx="45720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035040" y="2350008"/>
            <a:ext cx="13716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Amazon MSK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4 トピック（IAM 9098）</a:t>
            </a:r>
          </a:p>
        </p:txBody>
      </p:sp>
      <p:pic>
        <p:nvPicPr>
          <p:cNvPr id="35" name="Picture 34" descr="em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320" y="1874519"/>
            <a:ext cx="457200" cy="4572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818120" y="2350008"/>
            <a:ext cx="13716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EMR Serverless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Spark・5 クエリ（検知）</a:t>
            </a:r>
          </a:p>
        </p:txBody>
      </p:sp>
      <p:pic>
        <p:nvPicPr>
          <p:cNvPr id="37" name="Picture 36" descr="simple-storage-service-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28832" y="1581912"/>
            <a:ext cx="310896" cy="310896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1612880" y="1527048"/>
            <a:ext cx="251460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Amazon S3 Tables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snmp_metrics（正本）・異常と修復の証跡</a:t>
            </a:r>
          </a:p>
        </p:txBody>
      </p:sp>
      <p:pic>
        <p:nvPicPr>
          <p:cNvPr id="39" name="Picture 38" descr="amazon-opensearch-servi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28832" y="2061972"/>
            <a:ext cx="310896" cy="31089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1612880" y="2007107"/>
            <a:ext cx="251460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OpenSearch Serverless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snmp-logs（trap・syslog）</a:t>
            </a:r>
          </a:p>
        </p:txBody>
      </p:sp>
      <p:pic>
        <p:nvPicPr>
          <p:cNvPr id="41" name="Picture 40" descr="amazon-managed-prometheu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228832" y="2542032"/>
            <a:ext cx="310896" cy="31089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1612880" y="2487168"/>
            <a:ext cx="251460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Amazon Managed Prometheus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メトリクス</a:t>
            </a:r>
          </a:p>
        </p:txBody>
      </p:sp>
      <p:pic>
        <p:nvPicPr>
          <p:cNvPr id="43" name="Picture 42" descr="farg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8832" y="3022092"/>
            <a:ext cx="310896" cy="31089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1612880" y="2967228"/>
            <a:ext cx="251460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Splunk Enterprise（ECS）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HEC 8088・UI 8000</a:t>
            </a:r>
          </a:p>
        </p:txBody>
      </p:sp>
      <p:pic>
        <p:nvPicPr>
          <p:cNvPr id="45" name="Picture 44" descr="neptun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28832" y="3502152"/>
            <a:ext cx="310896" cy="31089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1612880" y="3447288"/>
            <a:ext cx="251460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Amazon Neptune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トポロジ・異常・修復案</a:t>
            </a:r>
          </a:p>
        </p:txBody>
      </p:sp>
      <p:pic>
        <p:nvPicPr>
          <p:cNvPr id="47" name="Picture 46" descr="systems-manage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65960" y="3429000"/>
            <a:ext cx="457200" cy="4572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54480" y="3904487"/>
            <a:ext cx="128016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Systems Manager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Run Command</a:t>
            </a:r>
          </a:p>
        </p:txBody>
      </p:sp>
      <p:pic>
        <p:nvPicPr>
          <p:cNvPr id="49" name="Picture 48" descr="farg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3429000"/>
            <a:ext cx="457200" cy="4572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983480" y="3904487"/>
            <a:ext cx="13716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Temporal（ECS）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ワーカー・start-dev</a:t>
            </a:r>
          </a:p>
        </p:txBody>
      </p:sp>
      <p:pic>
        <p:nvPicPr>
          <p:cNvPr id="51" name="Picture 50" descr="simple-queue-service-sq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58000" y="3429000"/>
            <a:ext cx="457200" cy="4572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492240" y="3904487"/>
            <a:ext cx="1188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Amazon SQS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本体＋DLQ</a:t>
            </a:r>
          </a:p>
        </p:txBody>
      </p:sp>
      <p:pic>
        <p:nvPicPr>
          <p:cNvPr id="53" name="Picture 52" descr="eventbrid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75320" y="3429000"/>
            <a:ext cx="457200" cy="4572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7909560" y="3904487"/>
            <a:ext cx="1188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EventBridge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AnomalyOpened</a:t>
            </a:r>
          </a:p>
        </p:txBody>
      </p:sp>
      <p:pic>
        <p:nvPicPr>
          <p:cNvPr id="55" name="Picture 54" descr="lambd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46920" y="3429000"/>
            <a:ext cx="457200" cy="4572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9281160" y="3904487"/>
            <a:ext cx="1188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graph Lambda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IF の status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34640" y="3767328"/>
            <a:ext cx="237744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承認は運用者が Web の承認タブで</a:t>
            </a:r>
          </a:p>
          <a:p>
            <a:pPr algn="ctr"/>
            <a:r>
              <a:rPr sz="700" b="0">
                <a:solidFill>
                  <a:srgbClr val="545B64"/>
                </a:solidFill>
                <a:latin typeface="Noto Sans JP"/>
                <a:ea typeface="Noto Sans JP"/>
              </a:rPr>
              <a:t>（Neptune の修復案を approved に）</a:t>
            </a:r>
          </a:p>
        </p:txBody>
      </p:sp>
      <p:pic>
        <p:nvPicPr>
          <p:cNvPr id="58" name="Picture 57" descr="e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5212080"/>
            <a:ext cx="457200" cy="4572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554480" y="5687568"/>
            <a:ext cx="128016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Web の EC2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Gradio・承認タブ</a:t>
            </a:r>
          </a:p>
        </p:txBody>
      </p:sp>
      <p:pic>
        <p:nvPicPr>
          <p:cNvPr id="60" name="Picture 59" descr="bedrock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440680" y="5212080"/>
            <a:ext cx="457200" cy="4572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4983480" y="5687568"/>
            <a:ext cx="13716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AgentCore Runtime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エージェント（VPC）</a:t>
            </a:r>
          </a:p>
        </p:txBody>
      </p:sp>
      <p:pic>
        <p:nvPicPr>
          <p:cNvPr id="62" name="Picture 61" descr="bedrock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86600" y="5212080"/>
            <a:ext cx="457200" cy="4572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629400" y="5687568"/>
            <a:ext cx="13716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Amazon Bedrock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Nova 2 Lite・Guardrail</a:t>
            </a:r>
          </a:p>
        </p:txBody>
      </p:sp>
      <p:pic>
        <p:nvPicPr>
          <p:cNvPr id="64" name="Picture 63" descr="amazon-opensearch-servi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32520" y="5212080"/>
            <a:ext cx="457200" cy="4572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275320" y="5687568"/>
            <a:ext cx="13716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ナレッジベース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OpenSearch Serverless</a:t>
            </a:r>
          </a:p>
        </p:txBody>
      </p:sp>
      <p:pic>
        <p:nvPicPr>
          <p:cNvPr id="66" name="Picture 65" descr="bedrock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86600" y="6099048"/>
            <a:ext cx="457200" cy="4572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629400" y="6574536"/>
            <a:ext cx="13716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AgentCore Gateway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MCP</a:t>
            </a:r>
          </a:p>
        </p:txBody>
      </p:sp>
      <p:pic>
        <p:nvPicPr>
          <p:cNvPr id="68" name="Picture 67" descr="lambd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32520" y="6099048"/>
            <a:ext cx="457200" cy="4572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275320" y="6574536"/>
            <a:ext cx="13716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tools Lambda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ツールの実体</a:t>
            </a:r>
          </a:p>
        </p:txBody>
      </p:sp>
      <p:pic>
        <p:nvPicPr>
          <p:cNvPr id="70" name="Picture 69" descr="farg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2920" y="5212080"/>
            <a:ext cx="457200" cy="4572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2463272" y="5230368"/>
            <a:ext cx="160020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Grafana OSS（ECS）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3000・ダッシュボード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55680" y="5943600"/>
            <a:ext cx="2880360" cy="8229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Web の EC2 を踏み台に、SSM のポートフォワーディングで運用者の localhost へ</a:t>
            </a:r>
          </a:p>
          <a:p>
            <a:pPr algn="l"/>
            <a:r>
              <a:rPr sz="700" b="0">
                <a:solidFill>
                  <a:srgbClr val="545B64"/>
                </a:solidFill>
                <a:latin typeface="Noto Sans JP"/>
                <a:ea typeface="Noto Sans JP"/>
              </a:rPr>
              <a:t>Grafana 3000・Splunk 8000・Temporal UI 8233</a:t>
            </a:r>
          </a:p>
        </p:txBody>
      </p:sp>
      <p:pic>
        <p:nvPicPr>
          <p:cNvPr id="73" name="Picture 72" descr="systems-manage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27632" y="7571231"/>
            <a:ext cx="310896" cy="310896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2011680" y="7516367"/>
            <a:ext cx="169164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Systems Manager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セッション・Run Command</a:t>
            </a:r>
          </a:p>
        </p:txBody>
      </p:sp>
      <p:pic>
        <p:nvPicPr>
          <p:cNvPr id="75" name="Picture 74" descr="ec2-container-registry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712463" y="7571231"/>
            <a:ext cx="310896" cy="31089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096511" y="7516367"/>
            <a:ext cx="169164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Amazon ECR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5 つのイメージ</a:t>
            </a:r>
          </a:p>
        </p:txBody>
      </p:sp>
      <p:pic>
        <p:nvPicPr>
          <p:cNvPr id="77" name="Picture 76" descr="cloudwatch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797296" y="7571231"/>
            <a:ext cx="310896" cy="310896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6181344" y="7516367"/>
            <a:ext cx="169164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CloudWatch Logs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タスクと Runtime のログ</a:t>
            </a:r>
          </a:p>
        </p:txBody>
      </p:sp>
      <p:pic>
        <p:nvPicPr>
          <p:cNvPr id="79" name="Picture 78" descr="simple-storage-service-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82127" y="7571231"/>
            <a:ext cx="310896" cy="310896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266175" y="7516367"/>
            <a:ext cx="169164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Amazon S3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配布物・Spark のジョブ</a:t>
            </a:r>
          </a:p>
        </p:txBody>
      </p:sp>
      <p:pic>
        <p:nvPicPr>
          <p:cNvPr id="81" name="Picture 80" descr="identity-and-access-management-iam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966959" y="7571231"/>
            <a:ext cx="310896" cy="31089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0351007" y="7516367"/>
            <a:ext cx="169164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IAM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閉域の Deny（aws:SourceVpc）</a:t>
            </a:r>
          </a:p>
        </p:txBody>
      </p:sp>
      <p:pic>
        <p:nvPicPr>
          <p:cNvPr id="83" name="Picture 82" descr="endpoint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051791" y="7571231"/>
            <a:ext cx="310896" cy="310896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2435839" y="7516367"/>
            <a:ext cx="169164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VPC エンドポイント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AWS の API はここだけ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450591" y="2103120"/>
            <a:ext cx="905257" cy="0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2514600" y="1851659"/>
            <a:ext cx="77724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trap・syslog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867912" y="2103120"/>
            <a:ext cx="905256" cy="0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4137659" y="1851659"/>
            <a:ext cx="36576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転送</a:t>
            </a:r>
          </a:p>
        </p:txBody>
      </p:sp>
      <p:cxnSp>
        <p:nvCxnSpPr>
          <p:cNvPr id="89" name="Connector 88"/>
          <p:cNvCxnSpPr/>
          <p:nvPr/>
        </p:nvCxnSpPr>
        <p:spPr>
          <a:xfrm flipV="1">
            <a:off x="5029200" y="1691640"/>
            <a:ext cx="0" cy="155447"/>
          </a:xfrm>
          <a:prstGeom prst="line">
            <a:avLst/>
          </a:prstGeom>
          <a:ln w="12700">
            <a:solidFill>
              <a:srgbClr val="545B6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2194560" y="1691640"/>
            <a:ext cx="2834640" cy="0"/>
          </a:xfrm>
          <a:prstGeom prst="line">
            <a:avLst/>
          </a:prstGeom>
          <a:ln w="12700">
            <a:solidFill>
              <a:srgbClr val="545B6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194560" y="1691640"/>
            <a:ext cx="0" cy="155447"/>
          </a:xfrm>
          <a:prstGeom prst="line">
            <a:avLst/>
          </a:prstGeom>
          <a:ln w="12700">
            <a:solidFill>
              <a:srgbClr val="545B6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2651760" y="1604772"/>
            <a:ext cx="192024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SNMP 161（10 秒）・gNMI 57400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285232" y="2103120"/>
            <a:ext cx="1179575" cy="0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5532120" y="1851659"/>
            <a:ext cx="68580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IAM 認証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6976872" y="2103120"/>
            <a:ext cx="1271016" cy="0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7429500" y="1851659"/>
            <a:ext cx="36576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購読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8759952" y="2103120"/>
            <a:ext cx="2304288" cy="0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8961119" y="1664207"/>
            <a:ext cx="192024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Iceberg・_bulk・remote write</a:t>
            </a:r>
          </a:p>
          <a:p>
            <a:pPr algn="ctr"/>
            <a:r>
              <a:rPr sz="700" b="0">
                <a:solidFill>
                  <a:srgbClr val="545B64"/>
                </a:solidFill>
                <a:latin typeface="Noto Sans JP"/>
                <a:ea typeface="Noto Sans JP"/>
              </a:rPr>
              <a:t>HEC・Gremlin（SigV4）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8503920" y="2770632"/>
            <a:ext cx="0" cy="630936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8618219" y="3095244"/>
            <a:ext cx="96012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AnomalyOpened</a:t>
            </a:r>
          </a:p>
        </p:txBody>
      </p:sp>
      <p:cxnSp>
        <p:nvCxnSpPr>
          <p:cNvPr id="101" name="Connector 100"/>
          <p:cNvCxnSpPr/>
          <p:nvPr/>
        </p:nvCxnSpPr>
        <p:spPr>
          <a:xfrm flipH="1">
            <a:off x="7342631" y="3657600"/>
            <a:ext cx="905257" cy="0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7566660" y="3406139"/>
            <a:ext cx="45720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ルール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8759952" y="3657600"/>
            <a:ext cx="859536" cy="0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8961120" y="3406139"/>
            <a:ext cx="45720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ルール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10131552" y="3657600"/>
            <a:ext cx="1078992" cy="0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10259567" y="3406139"/>
            <a:ext cx="73152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IF の status</a:t>
            </a:r>
          </a:p>
        </p:txBody>
      </p:sp>
      <p:cxnSp>
        <p:nvCxnSpPr>
          <p:cNvPr id="107" name="Connector 106"/>
          <p:cNvCxnSpPr/>
          <p:nvPr/>
        </p:nvCxnSpPr>
        <p:spPr>
          <a:xfrm flipH="1">
            <a:off x="5925312" y="3657600"/>
            <a:ext cx="905256" cy="0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5943600" y="3406139"/>
            <a:ext cx="86868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ロングポーリング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5669280" y="4306824"/>
            <a:ext cx="0" cy="877824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4320540" y="4622292"/>
            <a:ext cx="114300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原因と修復案を聞く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5989320" y="4306824"/>
            <a:ext cx="0" cy="155448"/>
          </a:xfrm>
          <a:prstGeom prst="line">
            <a:avLst/>
          </a:prstGeom>
          <a:ln w="12700">
            <a:solidFill>
              <a:srgbClr val="545B6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5989320" y="4462272"/>
            <a:ext cx="5303520" cy="0"/>
          </a:xfrm>
          <a:prstGeom prst="line">
            <a:avLst/>
          </a:prstGeom>
          <a:ln w="12700">
            <a:solidFill>
              <a:srgbClr val="54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11292840" y="4069080"/>
            <a:ext cx="0" cy="393192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6720840" y="4375404"/>
            <a:ext cx="356616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修復案（Neptune: pending → approved）・各段の証跡（S3 Tables）</a:t>
            </a:r>
          </a:p>
        </p:txBody>
      </p:sp>
      <p:cxnSp>
        <p:nvCxnSpPr>
          <p:cNvPr id="115" name="Connector 114"/>
          <p:cNvCxnSpPr/>
          <p:nvPr/>
        </p:nvCxnSpPr>
        <p:spPr>
          <a:xfrm flipH="1">
            <a:off x="2450591" y="3657600"/>
            <a:ext cx="2962657" cy="0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3268979" y="3406139"/>
            <a:ext cx="132588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承認されたら heal-main</a:t>
            </a:r>
          </a:p>
        </p:txBody>
      </p:sp>
      <p:cxnSp>
        <p:nvCxnSpPr>
          <p:cNvPr id="117" name="Connector 116"/>
          <p:cNvCxnSpPr/>
          <p:nvPr/>
        </p:nvCxnSpPr>
        <p:spPr>
          <a:xfrm flipH="1">
            <a:off x="1362456" y="3657600"/>
            <a:ext cx="576072" cy="0"/>
          </a:xfrm>
          <a:prstGeom prst="line">
            <a:avLst/>
          </a:prstGeom>
          <a:ln w="12700">
            <a:solidFill>
              <a:srgbClr val="54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1362456" y="2103120"/>
            <a:ext cx="0" cy="1554480"/>
          </a:xfrm>
          <a:prstGeom prst="line">
            <a:avLst/>
          </a:prstGeom>
          <a:ln w="12700">
            <a:solidFill>
              <a:srgbClr val="54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362456" y="2103120"/>
            <a:ext cx="576072" cy="0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1170432" y="2852927"/>
            <a:ext cx="384048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修復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896112" y="5440680"/>
            <a:ext cx="1042416" cy="0"/>
          </a:xfrm>
          <a:prstGeom prst="line">
            <a:avLst/>
          </a:prstGeom>
          <a:ln w="12700">
            <a:solidFill>
              <a:srgbClr val="545B6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251459" y="4942332"/>
            <a:ext cx="77724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SSM（443）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2450591" y="5440680"/>
            <a:ext cx="2962657" cy="0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/>
        </p:nvSpPr>
        <p:spPr>
          <a:xfrm>
            <a:off x="3268979" y="5189220"/>
            <a:ext cx="132588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invoke_agent_runtime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5925312" y="5440680"/>
            <a:ext cx="1133856" cy="0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5943600" y="5189220"/>
            <a:ext cx="109728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Converse・Retrieve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6400800" y="5440680"/>
            <a:ext cx="0" cy="886968"/>
          </a:xfrm>
          <a:prstGeom prst="line">
            <a:avLst/>
          </a:prstGeom>
          <a:ln w="12700">
            <a:solidFill>
              <a:srgbClr val="54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6400800" y="6327648"/>
            <a:ext cx="658368" cy="0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6583680" y="6085332"/>
            <a:ext cx="36576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MCP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7571231" y="5440680"/>
            <a:ext cx="1133857" cy="0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7955280" y="5189220"/>
            <a:ext cx="36576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検索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7571231" y="6327648"/>
            <a:ext cx="1133857" cy="0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7863840" y="6085332"/>
            <a:ext cx="54864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呼び出し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9217152" y="6327648"/>
            <a:ext cx="1728216" cy="0"/>
          </a:xfrm>
          <a:prstGeom prst="line">
            <a:avLst/>
          </a:prstGeom>
          <a:ln w="12700">
            <a:solidFill>
              <a:srgbClr val="54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10945368" y="4709160"/>
            <a:ext cx="0" cy="1618488"/>
          </a:xfrm>
          <a:prstGeom prst="line">
            <a:avLst/>
          </a:prstGeom>
          <a:ln w="12700">
            <a:solidFill>
              <a:srgbClr val="54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10945368" y="4709160"/>
            <a:ext cx="713232" cy="0"/>
          </a:xfrm>
          <a:prstGeom prst="line">
            <a:avLst/>
          </a:prstGeom>
          <a:ln w="12700">
            <a:solidFill>
              <a:srgbClr val="545B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11658600" y="4069080"/>
            <a:ext cx="0" cy="640080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9235440" y="6085332"/>
            <a:ext cx="155448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Neptune・logs・AMP を読む</a:t>
            </a:r>
          </a:p>
        </p:txBody>
      </p:sp>
      <p:cxnSp>
        <p:nvCxnSpPr>
          <p:cNvPr id="139" name="Connector 138"/>
          <p:cNvCxnSpPr/>
          <p:nvPr/>
        </p:nvCxnSpPr>
        <p:spPr>
          <a:xfrm flipV="1">
            <a:off x="12161520" y="4069080"/>
            <a:ext cx="0" cy="1115568"/>
          </a:xfrm>
          <a:prstGeom prst="line">
            <a:avLst/>
          </a:prstGeom>
          <a:ln w="12700">
            <a:solidFill>
              <a:srgbClr val="545B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12550140" y="4485132"/>
            <a:ext cx="77724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SigV4 で読む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194560" y="6089904"/>
            <a:ext cx="0" cy="1005840"/>
          </a:xfrm>
          <a:prstGeom prst="line">
            <a:avLst/>
          </a:prstGeom>
          <a:ln w="12700">
            <a:solidFill>
              <a:srgbClr val="545B6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194560" y="7095744"/>
            <a:ext cx="12124944" cy="0"/>
          </a:xfrm>
          <a:prstGeom prst="line">
            <a:avLst/>
          </a:prstGeom>
          <a:ln w="12700">
            <a:solidFill>
              <a:srgbClr val="545B6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14319504" y="3177540"/>
            <a:ext cx="0" cy="3918204"/>
          </a:xfrm>
          <a:prstGeom prst="line">
            <a:avLst/>
          </a:prstGeom>
          <a:ln w="12700">
            <a:solidFill>
              <a:srgbClr val="545B6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14127480" y="3177540"/>
            <a:ext cx="192024" cy="0"/>
          </a:xfrm>
          <a:prstGeom prst="line">
            <a:avLst/>
          </a:prstGeom>
          <a:ln w="12700">
            <a:solidFill>
              <a:srgbClr val="545B6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12161520" y="6967728"/>
            <a:ext cx="0" cy="128016"/>
          </a:xfrm>
          <a:prstGeom prst="line">
            <a:avLst/>
          </a:prstGeom>
          <a:ln w="12700">
            <a:solidFill>
              <a:srgbClr val="545B64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4023360" y="7008876"/>
            <a:ext cx="512064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SSM のポートフォワーディング（Web の EC2 経由）: Grafana 3000・Splunk 8000・Temporal UI 8233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"/>
            <a:ext cx="859536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1">
                <a:solidFill>
                  <a:srgbClr val="232F3E"/>
                </a:solidFill>
                <a:latin typeface="Noto Sans JP"/>
                <a:ea typeface="Noto Sans JP"/>
              </a:rPr>
              <a:t>netops-biz インフラ構成（東京リージョン・閉域・マルチ AZ）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566928"/>
            <a:ext cx="859536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0">
                <a:solidFill>
                  <a:srgbClr val="545B64"/>
                </a:solidFill>
                <a:latin typeface="Noto Sans JP"/>
                <a:ea typeface="Noto Sans JP"/>
              </a:rPr>
              <a:t>PIPELINE・WORKFLOW・AGENT・GRAFANA・SINK_SPLUNK を全部有効にしたとき。VPC にインターネットへの経路は無く（IGW も NAT Gateway も無い）、AWS の API へは VPC エンドポイントだけを通る。AZ 2 には AZ 1 と同じものを置く。実線はデータと呼び出し、破線は人の操作とポーリング。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98280" y="109728"/>
            <a:ext cx="5349240" cy="841248"/>
          </a:xfrm>
          <a:prstGeom prst="rect">
            <a:avLst/>
          </a:prstGeom>
          <a:solidFill>
            <a:srgbClr val="FFF4E5"/>
          </a:solidFill>
          <a:ln w="15875">
            <a:solidFill>
              <a:srgbClr val="D16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89720" y="137160"/>
            <a:ext cx="521208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>
                <a:solidFill>
                  <a:srgbClr val="D16B00"/>
                </a:solidFill>
                <a:latin typeface="Noto Sans JP"/>
                <a:ea typeface="Noto Sans JP"/>
              </a:rPr>
              <a:t>※ PoC では AZ 冗長にしていない（この図は本番の想定）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・EC2（Web・lab）、ECS のタスク、内部 NLB、tools Lambda はサブネット a に 1 つずつ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・Neptune のインスタンスは 1 台、インターフェース型エンドポイントも a だけ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・2 AZ にまたがるのは MSK（2 ブローカー）・EMR Serverless・Runtime・graph Lambda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・lab は模擬ネットワークなので、本番の想定でも冗長の対象外（本番は現場の機器）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005840"/>
            <a:ext cx="13075920" cy="7095744"/>
          </a:xfrm>
          <a:prstGeom prst="rect">
            <a:avLst/>
          </a:prstGeom>
          <a:noFill/>
          <a:ln w="15875">
            <a:solidFill>
              <a:srgbClr val="232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274320" cy="27432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1024128"/>
            <a:ext cx="82296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Noto Sans JP"/>
                <a:ea typeface="Noto Sans JP"/>
              </a:rPr>
              <a:t>AWS Cloud</a:t>
            </a:r>
          </a:p>
        </p:txBody>
      </p:sp>
      <p:sp>
        <p:nvSpPr>
          <p:cNvPr id="9" name="Rectangle 8"/>
          <p:cNvSpPr/>
          <p:nvPr/>
        </p:nvSpPr>
        <p:spPr>
          <a:xfrm>
            <a:off x="1554480" y="1353312"/>
            <a:ext cx="12710160" cy="6638544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54480" y="1353312"/>
            <a:ext cx="274320" cy="274320"/>
          </a:xfrm>
          <a:prstGeom prst="rect">
            <a:avLst/>
          </a:prstGeom>
          <a:solidFill>
            <a:srgbClr val="00A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1371600"/>
            <a:ext cx="82296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Noto Sans JP"/>
                <a:ea typeface="Noto Sans JP"/>
              </a:rPr>
              <a:t>東京リージョン（ap-northeast-1）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1700784"/>
            <a:ext cx="8321040" cy="5586983"/>
          </a:xfrm>
          <a:prstGeom prst="rect">
            <a:avLst/>
          </a:prstGeom>
          <a:noFill/>
          <a:ln w="15875">
            <a:solidFill>
              <a:srgbClr val="8C4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37360" y="1700784"/>
            <a:ext cx="274320" cy="274320"/>
          </a:xfrm>
          <a:prstGeom prst="rect">
            <a:avLst/>
          </a:prstGeom>
          <a:solidFill>
            <a:srgbClr val="8C4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57399" y="1719072"/>
            <a:ext cx="82296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>
                <a:solidFill>
                  <a:srgbClr val="8C4FFF"/>
                </a:solidFill>
                <a:latin typeface="Noto Sans JP"/>
                <a:ea typeface="Noto Sans JP"/>
              </a:rPr>
              <a:t>VPC</a:t>
            </a:r>
          </a:p>
        </p:txBody>
      </p:sp>
      <p:pic>
        <p:nvPicPr>
          <p:cNvPr id="15" name="Picture 14" descr="end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737360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79392" y="1737360"/>
            <a:ext cx="5760720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0">
                <a:solidFill>
                  <a:srgbClr val="232F3E"/>
                </a:solidFill>
                <a:latin typeface="Noto Sans JP"/>
                <a:ea typeface="Noto Sans JP"/>
              </a:rPr>
              <a:t>VPC エンドポイント（各 AZ）: インターフェース型（private DNS）＋ S3 gateway ＋ OpenSearch Serverless 専用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0240" y="2157984"/>
            <a:ext cx="7955280" cy="4133087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5960" y="2176272"/>
            <a:ext cx="82296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Noto Sans JP"/>
                <a:ea typeface="Noto Sans JP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1975104" y="2212848"/>
            <a:ext cx="7845552" cy="4023359"/>
          </a:xfrm>
          <a:prstGeom prst="rect">
            <a:avLst/>
          </a:prstGeom>
          <a:solidFill>
            <a:srgbClr val="E6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57400" y="2048255"/>
            <a:ext cx="2610612" cy="21945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1">
                <a:solidFill>
                  <a:srgbClr val="00A4A6"/>
                </a:solidFill>
                <a:latin typeface="Noto Sans JP"/>
                <a:ea typeface="Noto Sans JP"/>
              </a:rPr>
              <a:t>AZ 1（apne1-az1）・プライベートサブネット 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20240" y="6400800"/>
            <a:ext cx="7955280" cy="82296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65960" y="6419088"/>
            <a:ext cx="82296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Noto Sans JP"/>
                <a:ea typeface="Noto Sans JP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1975104" y="6455664"/>
            <a:ext cx="7845552" cy="713232"/>
          </a:xfrm>
          <a:prstGeom prst="rect">
            <a:avLst/>
          </a:prstGeom>
          <a:solidFill>
            <a:srgbClr val="E6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57400" y="6291072"/>
            <a:ext cx="2610612" cy="21945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900" b="1">
                <a:solidFill>
                  <a:srgbClr val="00A4A6"/>
                </a:solidFill>
                <a:latin typeface="Noto Sans JP"/>
                <a:ea typeface="Noto Sans JP"/>
              </a:rPr>
              <a:t>AZ 2（apne1-az4）・プライベートサブネット b</a:t>
            </a:r>
          </a:p>
        </p:txBody>
      </p:sp>
      <p:pic>
        <p:nvPicPr>
          <p:cNvPr id="25" name="Picture 24" descr="us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" y="2464308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439" y="2985516"/>
            <a:ext cx="1188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利用者の PC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localhost に転送</a:t>
            </a:r>
          </a:p>
        </p:txBody>
      </p:sp>
      <p:pic>
        <p:nvPicPr>
          <p:cNvPr id="27" name="Picture 26" descr="e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2487168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20240" y="2962656"/>
            <a:ext cx="1188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Web の EC2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Gradio・踏み台</a:t>
            </a:r>
          </a:p>
        </p:txBody>
      </p:sp>
      <p:pic>
        <p:nvPicPr>
          <p:cNvPr id="29" name="Picture 28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487168"/>
            <a:ext cx="457200" cy="4572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017520" y="2962656"/>
            <a:ext cx="1188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AgentCore Runtime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VPC モード</a:t>
            </a:r>
          </a:p>
        </p:txBody>
      </p:sp>
      <p:pic>
        <p:nvPicPr>
          <p:cNvPr id="31" name="Picture 30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0" y="3447287"/>
            <a:ext cx="457200" cy="457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920240" y="3922775"/>
            <a:ext cx="1188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Grafana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ECS Fargate</a:t>
            </a:r>
          </a:p>
        </p:txBody>
      </p:sp>
      <p:pic>
        <p:nvPicPr>
          <p:cNvPr id="33" name="Picture 32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447287"/>
            <a:ext cx="45720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017520" y="3922775"/>
            <a:ext cx="1188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Splunk Enterprise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ECS Fargate</a:t>
            </a:r>
          </a:p>
        </p:txBody>
      </p:sp>
      <p:pic>
        <p:nvPicPr>
          <p:cNvPr id="35" name="Picture 34" descr="lambd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0" y="3447287"/>
            <a:ext cx="457200" cy="4572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406640" y="3922775"/>
            <a:ext cx="1188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tools Lambda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Gateway の先</a:t>
            </a:r>
          </a:p>
        </p:txBody>
      </p:sp>
      <p:pic>
        <p:nvPicPr>
          <p:cNvPr id="37" name="Picture 36" descr="e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4416552"/>
            <a:ext cx="457200" cy="457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920240" y="4892040"/>
            <a:ext cx="1188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lab の EC2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containerlab + SR Linux</a:t>
            </a:r>
          </a:p>
        </p:txBody>
      </p:sp>
      <p:pic>
        <p:nvPicPr>
          <p:cNvPr id="39" name="Picture 38" descr="elb-network-load-balanc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83280" y="4416552"/>
            <a:ext cx="457200" cy="457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017520" y="4892040"/>
            <a:ext cx="1188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内部 NLB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trap 162・syslog 5140</a:t>
            </a:r>
          </a:p>
        </p:txBody>
      </p:sp>
      <p:pic>
        <p:nvPicPr>
          <p:cNvPr id="41" name="Picture 40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4416552"/>
            <a:ext cx="457200" cy="4572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114800" y="4892040"/>
            <a:ext cx="1188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Telegraf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ECS Fargate</a:t>
            </a:r>
          </a:p>
        </p:txBody>
      </p:sp>
      <p:pic>
        <p:nvPicPr>
          <p:cNvPr id="43" name="Picture 42" descr="managed-streaming-for-kafk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7840" y="4416552"/>
            <a:ext cx="457200" cy="4572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212079" y="4892040"/>
            <a:ext cx="1188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Amazon MSK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ブローカー・4 トピック</a:t>
            </a:r>
          </a:p>
        </p:txBody>
      </p:sp>
      <p:pic>
        <p:nvPicPr>
          <p:cNvPr id="45" name="Picture 44" descr="em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75120" y="4416552"/>
            <a:ext cx="457200" cy="4572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309359" y="4892040"/>
            <a:ext cx="1188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EMR Serverless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Spark（検知）</a:t>
            </a:r>
          </a:p>
        </p:txBody>
      </p:sp>
      <p:pic>
        <p:nvPicPr>
          <p:cNvPr id="47" name="Picture 46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0" y="5349240"/>
            <a:ext cx="457200" cy="4572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840480" y="5824727"/>
            <a:ext cx="173736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Temporal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ECS Fargate（調査→承認→修復）</a:t>
            </a:r>
          </a:p>
        </p:txBody>
      </p:sp>
      <p:pic>
        <p:nvPicPr>
          <p:cNvPr id="49" name="Picture 48" descr="neptun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75120" y="5349240"/>
            <a:ext cx="457200" cy="4572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217920" y="5824727"/>
            <a:ext cx="137160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Neptune（ライター）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トポロジ・異常・修復案</a:t>
            </a:r>
          </a:p>
        </p:txBody>
      </p:sp>
      <p:pic>
        <p:nvPicPr>
          <p:cNvPr id="51" name="Picture 50" descr="lambd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0" y="5349240"/>
            <a:ext cx="457200" cy="4572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406640" y="5824727"/>
            <a:ext cx="1188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graph Lambda</a:t>
            </a:r>
          </a:p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IF の status</a:t>
            </a:r>
          </a:p>
        </p:txBody>
      </p:sp>
      <p:pic>
        <p:nvPicPr>
          <p:cNvPr id="53" name="Picture 52" descr="e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8296" y="6565392"/>
            <a:ext cx="292608" cy="29260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034540" y="6876288"/>
            <a:ext cx="96012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1">
                <a:solidFill>
                  <a:srgbClr val="232F3E"/>
                </a:solidFill>
                <a:latin typeface="Noto Sans JP"/>
                <a:ea typeface="Noto Sans JP"/>
              </a:rPr>
              <a:t>Web の EC2</a:t>
            </a:r>
          </a:p>
          <a:p>
            <a:pPr algn="ctr"/>
            <a:r>
              <a:rPr sz="700" b="0">
                <a:solidFill>
                  <a:srgbClr val="545B64"/>
                </a:solidFill>
                <a:latin typeface="Noto Sans JP"/>
                <a:ea typeface="Noto Sans JP"/>
              </a:rPr>
              <a:t>予備</a:t>
            </a:r>
          </a:p>
        </p:txBody>
      </p:sp>
      <p:pic>
        <p:nvPicPr>
          <p:cNvPr id="55" name="Picture 54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6704" y="6565392"/>
            <a:ext cx="292608" cy="292608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3012948" y="6876288"/>
            <a:ext cx="96012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1">
                <a:solidFill>
                  <a:srgbClr val="232F3E"/>
                </a:solidFill>
                <a:latin typeface="Noto Sans JP"/>
                <a:ea typeface="Noto Sans JP"/>
              </a:rPr>
              <a:t>Runtime</a:t>
            </a:r>
          </a:p>
          <a:p>
            <a:pPr algn="ctr"/>
            <a:r>
              <a:rPr sz="700" b="0">
                <a:solidFill>
                  <a:srgbClr val="545B64"/>
                </a:solidFill>
                <a:latin typeface="Noto Sans JP"/>
                <a:ea typeface="Noto Sans JP"/>
              </a:rPr>
              <a:t>ENI</a:t>
            </a:r>
          </a:p>
        </p:txBody>
      </p:sp>
      <p:pic>
        <p:nvPicPr>
          <p:cNvPr id="57" name="Picture 56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5112" y="6565392"/>
            <a:ext cx="292608" cy="2926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3991356" y="6876288"/>
            <a:ext cx="96012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1">
                <a:solidFill>
                  <a:srgbClr val="232F3E"/>
                </a:solidFill>
                <a:latin typeface="Noto Sans JP"/>
                <a:ea typeface="Noto Sans JP"/>
              </a:rPr>
              <a:t>ECS のタスク</a:t>
            </a:r>
          </a:p>
          <a:p>
            <a:pPr algn="ctr"/>
            <a:r>
              <a:rPr sz="700" b="0">
                <a:solidFill>
                  <a:srgbClr val="545B64"/>
                </a:solidFill>
                <a:latin typeface="Noto Sans JP"/>
                <a:ea typeface="Noto Sans JP"/>
              </a:rPr>
              <a:t>4 サービス</a:t>
            </a:r>
          </a:p>
        </p:txBody>
      </p:sp>
      <p:pic>
        <p:nvPicPr>
          <p:cNvPr id="59" name="Picture 58" descr="elb-network-load-balanc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3520" y="6565392"/>
            <a:ext cx="292608" cy="29260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969764" y="6876288"/>
            <a:ext cx="96012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1">
                <a:solidFill>
                  <a:srgbClr val="232F3E"/>
                </a:solidFill>
                <a:latin typeface="Noto Sans JP"/>
                <a:ea typeface="Noto Sans JP"/>
              </a:rPr>
              <a:t>内部 NLB</a:t>
            </a:r>
          </a:p>
          <a:p>
            <a:pPr algn="ctr"/>
            <a:r>
              <a:rPr sz="700" b="0">
                <a:solidFill>
                  <a:srgbClr val="545B64"/>
                </a:solidFill>
                <a:latin typeface="Noto Sans JP"/>
                <a:ea typeface="Noto Sans JP"/>
              </a:rPr>
              <a:t>ノード</a:t>
            </a:r>
          </a:p>
        </p:txBody>
      </p:sp>
      <p:pic>
        <p:nvPicPr>
          <p:cNvPr id="61" name="Picture 60" descr="managed-streaming-for-kafk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1928" y="6565392"/>
            <a:ext cx="292608" cy="292608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948172" y="6876288"/>
            <a:ext cx="96012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1">
                <a:solidFill>
                  <a:srgbClr val="232F3E"/>
                </a:solidFill>
                <a:latin typeface="Noto Sans JP"/>
                <a:ea typeface="Noto Sans JP"/>
              </a:rPr>
              <a:t>MSK</a:t>
            </a:r>
          </a:p>
          <a:p>
            <a:pPr algn="ctr"/>
            <a:r>
              <a:rPr sz="700" b="0">
                <a:solidFill>
                  <a:srgbClr val="545B64"/>
                </a:solidFill>
                <a:latin typeface="Noto Sans JP"/>
                <a:ea typeface="Noto Sans JP"/>
              </a:rPr>
              <a:t>ブローカー</a:t>
            </a:r>
          </a:p>
        </p:txBody>
      </p:sp>
      <p:pic>
        <p:nvPicPr>
          <p:cNvPr id="63" name="Picture 62" descr="em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60336" y="6565392"/>
            <a:ext cx="292608" cy="292608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926580" y="6876288"/>
            <a:ext cx="96012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1">
                <a:solidFill>
                  <a:srgbClr val="232F3E"/>
                </a:solidFill>
                <a:latin typeface="Noto Sans JP"/>
                <a:ea typeface="Noto Sans JP"/>
              </a:rPr>
              <a:t>EMR Serverless</a:t>
            </a:r>
          </a:p>
          <a:p>
            <a:pPr algn="ctr"/>
            <a:r>
              <a:rPr sz="700" b="0">
                <a:solidFill>
                  <a:srgbClr val="545B64"/>
                </a:solidFill>
                <a:latin typeface="Noto Sans JP"/>
                <a:ea typeface="Noto Sans JP"/>
              </a:rPr>
              <a:t>ワーカー</a:t>
            </a:r>
          </a:p>
        </p:txBody>
      </p:sp>
      <p:pic>
        <p:nvPicPr>
          <p:cNvPr id="65" name="Picture 64" descr="neptun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38744" y="6565392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7904988" y="6876288"/>
            <a:ext cx="96012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1">
                <a:solidFill>
                  <a:srgbClr val="232F3E"/>
                </a:solidFill>
                <a:latin typeface="Noto Sans JP"/>
                <a:ea typeface="Noto Sans JP"/>
              </a:rPr>
              <a:t>Neptune</a:t>
            </a:r>
          </a:p>
          <a:p>
            <a:pPr algn="ctr"/>
            <a:r>
              <a:rPr sz="700" b="0">
                <a:solidFill>
                  <a:srgbClr val="545B64"/>
                </a:solidFill>
                <a:latin typeface="Noto Sans JP"/>
                <a:ea typeface="Noto Sans JP"/>
              </a:rPr>
              <a:t>リードレプリカ</a:t>
            </a:r>
          </a:p>
        </p:txBody>
      </p:sp>
      <p:pic>
        <p:nvPicPr>
          <p:cNvPr id="67" name="Picture 66" descr="lambd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7152" y="6565392"/>
            <a:ext cx="292608" cy="292608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8883396" y="6876288"/>
            <a:ext cx="96012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1">
                <a:solidFill>
                  <a:srgbClr val="232F3E"/>
                </a:solidFill>
                <a:latin typeface="Noto Sans JP"/>
                <a:ea typeface="Noto Sans JP"/>
              </a:rPr>
              <a:t>Lambda</a:t>
            </a:r>
          </a:p>
          <a:p>
            <a:pPr algn="ctr"/>
            <a:r>
              <a:rPr sz="700" b="0">
                <a:solidFill>
                  <a:srgbClr val="545B64"/>
                </a:solidFill>
                <a:latin typeface="Noto Sans JP"/>
                <a:ea typeface="Noto Sans JP"/>
              </a:rPr>
              <a:t>ENI</a:t>
            </a:r>
          </a:p>
        </p:txBody>
      </p:sp>
      <p:pic>
        <p:nvPicPr>
          <p:cNvPr id="69" name="Picture 68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5620" y="2510028"/>
            <a:ext cx="411480" cy="41148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1160252" y="2505456"/>
            <a:ext cx="292608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Amazon Bedrock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Nova 2 Lite・Guardrail・ナレッジベース</a:t>
            </a:r>
          </a:p>
        </p:txBody>
      </p:sp>
      <p:pic>
        <p:nvPicPr>
          <p:cNvPr id="71" name="Picture 70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5620" y="3470147"/>
            <a:ext cx="411480" cy="41148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1160252" y="3465575"/>
            <a:ext cx="292608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AgentCore Gateway（MCP）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Runtime のツールを tools Lambda へ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424160" y="3913632"/>
            <a:ext cx="3657600" cy="1956815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469880" y="3931920"/>
            <a:ext cx="82296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1">
                <a:solidFill>
                  <a:srgbClr val="545B64"/>
                </a:solidFill>
                <a:latin typeface="Noto Sans JP"/>
                <a:ea typeface="Noto Sans JP"/>
              </a:rPr>
              <a:t>Spark の書き先</a:t>
            </a:r>
          </a:p>
        </p:txBody>
      </p:sp>
      <p:pic>
        <p:nvPicPr>
          <p:cNvPr id="75" name="Picture 74" descr="simple-storage-service-s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716768" y="4178808"/>
            <a:ext cx="329184" cy="32918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1119104" y="4133087"/>
            <a:ext cx="292608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S3 Tables（snmp_metrics・証跡）</a:t>
            </a:r>
          </a:p>
        </p:txBody>
      </p:sp>
      <p:pic>
        <p:nvPicPr>
          <p:cNvPr id="77" name="Picture 76" descr="amazon-opensearch-servic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716768" y="4590288"/>
            <a:ext cx="329184" cy="329184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1119104" y="4544568"/>
            <a:ext cx="292608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OpenSearch Serverless（snmp-logs）</a:t>
            </a:r>
          </a:p>
        </p:txBody>
      </p:sp>
      <p:pic>
        <p:nvPicPr>
          <p:cNvPr id="79" name="Picture 78" descr="amazon-managed-prometheu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716768" y="5001768"/>
            <a:ext cx="329184" cy="329184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1119104" y="4956048"/>
            <a:ext cx="292608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Managed Service for Prometheus</a:t>
            </a:r>
          </a:p>
        </p:txBody>
      </p:sp>
      <p:pic>
        <p:nvPicPr>
          <p:cNvPr id="81" name="Picture 80" descr="eventbrid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716768" y="5413248"/>
            <a:ext cx="329184" cy="329184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1119104" y="5367527"/>
            <a:ext cx="292608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EventBridge（AnomalyOpened）</a:t>
            </a:r>
          </a:p>
        </p:txBody>
      </p:sp>
      <p:pic>
        <p:nvPicPr>
          <p:cNvPr id="83" name="Picture 82" descr="simple-queue-service-sq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716768" y="6181344"/>
            <a:ext cx="329184" cy="329184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1119104" y="6135624"/>
            <a:ext cx="292608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Amazon SQS（本体と DLQ）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83080" y="7315200"/>
            <a:ext cx="27432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>
                <a:solidFill>
                  <a:srgbClr val="545B64"/>
                </a:solidFill>
                <a:latin typeface="Noto Sans JP"/>
                <a:ea typeface="Noto Sans JP"/>
              </a:rPr>
              <a:t>共通</a:t>
            </a:r>
          </a:p>
        </p:txBody>
      </p:sp>
      <p:pic>
        <p:nvPicPr>
          <p:cNvPr id="86" name="Picture 85" descr="systems-manager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37944" y="7507224"/>
            <a:ext cx="347472" cy="34747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2258568" y="7470648"/>
            <a:ext cx="214884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Systems Manager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セッション・Run Command・パラメータ</a:t>
            </a:r>
          </a:p>
        </p:txBody>
      </p:sp>
      <p:pic>
        <p:nvPicPr>
          <p:cNvPr id="88" name="Picture 87" descr="ec2-container-registry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52544" y="7507224"/>
            <a:ext cx="347472" cy="34747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4773168" y="7470648"/>
            <a:ext cx="214884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Amazon ECR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Agent・Temporal・Telegraf・Grafana・Splunk</a:t>
            </a:r>
          </a:p>
        </p:txBody>
      </p:sp>
      <p:pic>
        <p:nvPicPr>
          <p:cNvPr id="90" name="Picture 89" descr="cloudwatch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67144" y="7507224"/>
            <a:ext cx="347472" cy="347472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7287768" y="7470648"/>
            <a:ext cx="214884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CloudWatch Logs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各タスクと Runtime のログ</a:t>
            </a:r>
          </a:p>
        </p:txBody>
      </p:sp>
      <p:pic>
        <p:nvPicPr>
          <p:cNvPr id="92" name="Picture 91" descr="simple-storage-service-s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1744" y="7507224"/>
            <a:ext cx="347472" cy="34747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02367" y="7470648"/>
            <a:ext cx="214884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Amazon S3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Web・lab の配布物、Spark のジョブ</a:t>
            </a:r>
          </a:p>
        </p:txBody>
      </p:sp>
      <p:pic>
        <p:nvPicPr>
          <p:cNvPr id="94" name="Picture 93" descr="identity-and-access-management-iam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96344" y="7507224"/>
            <a:ext cx="347472" cy="347472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12316967" y="7470648"/>
            <a:ext cx="2148840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232F3E"/>
                </a:solidFill>
                <a:latin typeface="Noto Sans JP"/>
                <a:ea typeface="Noto Sans JP"/>
              </a:rPr>
              <a:t>IAM</a:t>
            </a:r>
          </a:p>
          <a:p>
            <a:pPr algn="l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閉域の Deny（aws:SourceVpc）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960120" y="2715768"/>
            <a:ext cx="1298448" cy="0"/>
          </a:xfrm>
          <a:prstGeom prst="line">
            <a:avLst/>
          </a:prstGeom>
          <a:ln w="15875">
            <a:solidFill>
              <a:srgbClr val="232F3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1056132" y="2276856"/>
            <a:ext cx="114300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SSM（ssmmessages）</a:t>
            </a:r>
          </a:p>
          <a:p>
            <a:pPr algn="ctr"/>
            <a:r>
              <a:rPr sz="700" b="0">
                <a:solidFill>
                  <a:srgbClr val="545B64"/>
                </a:solidFill>
                <a:latin typeface="Noto Sans JP"/>
                <a:ea typeface="Noto Sans JP"/>
              </a:rPr>
              <a:t>セッション・転送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2514600" y="3282696"/>
            <a:ext cx="0" cy="137160"/>
          </a:xfrm>
          <a:prstGeom prst="line">
            <a:avLst/>
          </a:prstGeom>
          <a:ln w="15875">
            <a:solidFill>
              <a:srgbClr val="232F3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514600" y="3282696"/>
            <a:ext cx="0" cy="73152"/>
          </a:xfrm>
          <a:prstGeom prst="line">
            <a:avLst/>
          </a:prstGeom>
          <a:ln w="15875">
            <a:solidFill>
              <a:srgbClr val="232F3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514600" y="3355848"/>
            <a:ext cx="1097280" cy="0"/>
          </a:xfrm>
          <a:prstGeom prst="line">
            <a:avLst/>
          </a:prstGeom>
          <a:ln w="15875">
            <a:solidFill>
              <a:srgbClr val="232F3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611880" y="3355848"/>
            <a:ext cx="0" cy="64008"/>
          </a:xfrm>
          <a:prstGeom prst="line">
            <a:avLst/>
          </a:prstGeom>
          <a:ln w="15875">
            <a:solidFill>
              <a:srgbClr val="232F3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770632" y="2715768"/>
            <a:ext cx="585216" cy="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3867912" y="2715768"/>
            <a:ext cx="6784848" cy="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4846320" y="2464308"/>
            <a:ext cx="420624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Converse・Retrieve（ツールは Neptune・OpenSearch・Prometheus を読む）</a:t>
            </a:r>
          </a:p>
        </p:txBody>
      </p:sp>
      <p:cxnSp>
        <p:nvCxnSpPr>
          <p:cNvPr id="105" name="Connector 104"/>
          <p:cNvCxnSpPr/>
          <p:nvPr/>
        </p:nvCxnSpPr>
        <p:spPr>
          <a:xfrm flipH="1">
            <a:off x="8257031" y="3675887"/>
            <a:ext cx="2395729" cy="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9189720" y="3424427"/>
            <a:ext cx="45720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MCP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2770632" y="4645152"/>
            <a:ext cx="585216" cy="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867912" y="4645152"/>
            <a:ext cx="585216" cy="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965192" y="4645152"/>
            <a:ext cx="585215" cy="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6062472" y="4645152"/>
            <a:ext cx="585216" cy="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7159752" y="4645152"/>
            <a:ext cx="3264408" cy="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8275320" y="4393692"/>
            <a:ext cx="173736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全トピック・指標・ログ・異常</a:t>
            </a:r>
          </a:p>
        </p:txBody>
      </p:sp>
      <p:cxnSp>
        <p:nvCxnSpPr>
          <p:cNvPr id="113" name="Connector 112"/>
          <p:cNvCxnSpPr/>
          <p:nvPr/>
        </p:nvCxnSpPr>
        <p:spPr>
          <a:xfrm flipV="1">
            <a:off x="4709160" y="4306824"/>
            <a:ext cx="0" cy="82296"/>
          </a:xfrm>
          <a:prstGeom prst="line">
            <a:avLst/>
          </a:prstGeom>
          <a:ln w="15875">
            <a:solidFill>
              <a:srgbClr val="232F3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>
            <a:off x="2514600" y="4306824"/>
            <a:ext cx="2194560" cy="0"/>
          </a:xfrm>
          <a:prstGeom prst="line">
            <a:avLst/>
          </a:prstGeom>
          <a:ln w="15875">
            <a:solidFill>
              <a:srgbClr val="232F3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514600" y="4306824"/>
            <a:ext cx="0" cy="82296"/>
          </a:xfrm>
          <a:prstGeom prst="line">
            <a:avLst/>
          </a:prstGeom>
          <a:ln w="15875">
            <a:solidFill>
              <a:srgbClr val="232F3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3566160" y="4219956"/>
            <a:ext cx="109728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SNMP 10 秒・gNMI</a:t>
            </a:r>
          </a:p>
        </p:txBody>
      </p:sp>
      <p:cxnSp>
        <p:nvCxnSpPr>
          <p:cNvPr id="117" name="Connector 116"/>
          <p:cNvCxnSpPr/>
          <p:nvPr/>
        </p:nvCxnSpPr>
        <p:spPr>
          <a:xfrm flipV="1">
            <a:off x="6903720" y="3675887"/>
            <a:ext cx="0" cy="713233"/>
          </a:xfrm>
          <a:prstGeom prst="line">
            <a:avLst/>
          </a:prstGeom>
          <a:ln w="15875">
            <a:solidFill>
              <a:srgbClr val="232F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H="1">
            <a:off x="3867912" y="3675887"/>
            <a:ext cx="3035808" cy="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4937760" y="3442715"/>
            <a:ext cx="109728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HEC（全トピック）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6903720" y="5212080"/>
            <a:ext cx="0" cy="109727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H="1">
            <a:off x="8257031" y="5577840"/>
            <a:ext cx="2441449" cy="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>
            <a:off x="7159752" y="5577840"/>
            <a:ext cx="585216" cy="0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10881360" y="5760720"/>
            <a:ext cx="0" cy="402336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>
            <a:off x="4709160" y="6345936"/>
            <a:ext cx="5989320" cy="0"/>
          </a:xfrm>
          <a:prstGeom prst="line">
            <a:avLst/>
          </a:prstGeom>
          <a:ln w="15875">
            <a:solidFill>
              <a:srgbClr val="232F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4709160" y="6163055"/>
            <a:ext cx="0" cy="182881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7223760" y="6259068"/>
            <a:ext cx="91440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調査を始める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4965192" y="5577840"/>
            <a:ext cx="1682496" cy="0"/>
          </a:xfrm>
          <a:prstGeom prst="line">
            <a:avLst/>
          </a:prstGeom>
          <a:ln w="15875">
            <a:solidFill>
              <a:srgbClr val="232F3E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/>
          <p:cNvSpPr txBox="1"/>
          <p:nvPr/>
        </p:nvSpPr>
        <p:spPr>
          <a:xfrm>
            <a:off x="5532120" y="5335524"/>
            <a:ext cx="54864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修復案</a:t>
            </a: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2514600" y="5577840"/>
            <a:ext cx="1938528" cy="0"/>
          </a:xfrm>
          <a:prstGeom prst="line">
            <a:avLst/>
          </a:prstGeom>
          <a:ln w="15875">
            <a:solidFill>
              <a:srgbClr val="232F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514600" y="5230368"/>
            <a:ext cx="0" cy="347472"/>
          </a:xfrm>
          <a:prstGeom prst="line">
            <a:avLst/>
          </a:prstGeom>
          <a:ln w="15875">
            <a:solidFill>
              <a:srgbClr val="232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2994660" y="5335524"/>
            <a:ext cx="1234440" cy="173736"/>
          </a:xfrm>
          <a:prstGeom prst="rect">
            <a:avLst/>
          </a:prstGeom>
          <a:solidFill>
            <a:srgbClr val="FFFFFF"/>
          </a:solidFill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750" b="0">
                <a:solidFill>
                  <a:srgbClr val="545B64"/>
                </a:solidFill>
                <a:latin typeface="Noto Sans JP"/>
                <a:ea typeface="Noto Sans JP"/>
              </a:rPr>
              <a:t>Run Command（修復）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netops-biz インフラ構成</dc:title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