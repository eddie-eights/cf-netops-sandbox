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9.png"/><Relationship Id="rId15" Type="http://schemas.openxmlformats.org/officeDocument/2006/relationships/image" Target="../media/image8.png"/><Relationship Id="rId16" Type="http://schemas.openxmlformats.org/officeDocument/2006/relationships/image" Target="../media/image11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Noto Sans JP"/>
                <a:ea typeface="Noto Sans JP"/>
              </a:rPr>
              <a:t>netops-biz 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3716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0">
                <a:solidFill>
                  <a:srgbClr val="5A6775"/>
                </a:solidFill>
                <a:latin typeface="Noto Sans JP"/>
                <a:ea typeface="Noto Sans JP"/>
              </a:rPr>
              <a:t>機器のデータを集めて貯め、異常を見つけ、AI エージェントが原因を調べ、人が承認してから直す。東京リージョン・閉域。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3716000" cy="27432"/>
          </a:xfrm>
          <a:prstGeom prst="rect">
            <a:avLst/>
          </a:prstGeom>
          <a:solidFill>
            <a:srgbClr val="008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2450592" cy="1828800"/>
          </a:xfrm>
          <a:prstGeom prst="roundRect">
            <a:avLst>
              <a:gd name="adj" fmla="val 6000"/>
            </a:avLst>
          </a:prstGeom>
          <a:solidFill>
            <a:srgbClr val="E6F6F7"/>
          </a:solidFill>
          <a:ln w="12700">
            <a:solidFill>
              <a:srgbClr val="00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01368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1">
                <a:solidFill>
                  <a:srgbClr val="008A8C"/>
                </a:solidFill>
                <a:latin typeface="Noto Sans JP"/>
                <a:ea typeface="Noto Sans JP"/>
              </a:rPr>
              <a:t>① 収集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>
                <a:solidFill>
                  <a:srgbClr val="232F3E"/>
                </a:solidFill>
                <a:latin typeface="Noto Sans JP"/>
                <a:ea typeface="Noto Sans JP"/>
              </a:rPr>
              <a:t>Telegraf（ECS）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24328"/>
            <a:ext cx="2176272" cy="7315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機器が送る trap・syslog を受け</a:t>
            </a:r>
          </a:p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gNMI・SNMP を取りにいく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1691640"/>
            <a:ext cx="2450592" cy="1828800"/>
          </a:xfrm>
          <a:prstGeom prst="roundRect">
            <a:avLst>
              <a:gd name="adj" fmla="val 6000"/>
            </a:avLst>
          </a:prstGeom>
          <a:solidFill>
            <a:srgbClr val="E6F6F7"/>
          </a:solidFill>
          <a:ln w="12700">
            <a:solidFill>
              <a:srgbClr val="00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1801368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1">
                <a:solidFill>
                  <a:srgbClr val="008A8C"/>
                </a:solidFill>
                <a:latin typeface="Noto Sans JP"/>
                <a:ea typeface="Noto Sans JP"/>
              </a:rPr>
              <a:t>② ストリーム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2240280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>
                <a:solidFill>
                  <a:srgbClr val="232F3E"/>
                </a:solidFill>
                <a:latin typeface="Noto Sans JP"/>
                <a:ea typeface="Noto Sans JP"/>
              </a:rPr>
              <a:t>Amazon MSK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624328"/>
            <a:ext cx="2176272" cy="7315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Kafka のトピックに流す</a:t>
            </a:r>
          </a:p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（5 本）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44368" y="2606040"/>
            <a:ext cx="292608" cy="0"/>
          </a:xfrm>
          <a:prstGeom prst="line">
            <a:avLst/>
          </a:prstGeom>
          <a:ln w="19050">
            <a:solidFill>
              <a:srgbClr val="008A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89904" y="1691640"/>
            <a:ext cx="2450592" cy="1828800"/>
          </a:xfrm>
          <a:prstGeom prst="roundRect">
            <a:avLst>
              <a:gd name="adj" fmla="val 6000"/>
            </a:avLst>
          </a:prstGeom>
          <a:solidFill>
            <a:srgbClr val="E6F6F7"/>
          </a:solidFill>
          <a:ln w="12700">
            <a:solidFill>
              <a:srgbClr val="00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1801368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1">
                <a:solidFill>
                  <a:srgbClr val="008A8C"/>
                </a:solidFill>
                <a:latin typeface="Noto Sans JP"/>
                <a:ea typeface="Noto Sans JP"/>
              </a:rPr>
              <a:t>③ 格納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2240280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>
                <a:solidFill>
                  <a:srgbClr val="232F3E"/>
                </a:solidFill>
                <a:latin typeface="Noto Sans JP"/>
                <a:ea typeface="Noto Sans JP"/>
              </a:rPr>
              <a:t>Spark（EMR Serverless）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2624328"/>
            <a:ext cx="2176272" cy="7315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S3 Tables・OpenSearch</a:t>
            </a:r>
          </a:p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Prometheus・Splunk 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60720" y="2606040"/>
            <a:ext cx="292608" cy="0"/>
          </a:xfrm>
          <a:prstGeom prst="line">
            <a:avLst/>
          </a:prstGeom>
          <a:ln w="19050">
            <a:solidFill>
              <a:srgbClr val="008A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906256" y="1691640"/>
            <a:ext cx="2450592" cy="1828800"/>
          </a:xfrm>
          <a:prstGeom prst="roundRect">
            <a:avLst>
              <a:gd name="adj" fmla="val 6000"/>
            </a:avLst>
          </a:prstGeom>
          <a:solidFill>
            <a:srgbClr val="E6F6F7"/>
          </a:solidFill>
          <a:ln w="12700">
            <a:solidFill>
              <a:srgbClr val="00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3416" y="1801368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1">
                <a:solidFill>
                  <a:srgbClr val="008A8C"/>
                </a:solidFill>
                <a:latin typeface="Noto Sans JP"/>
                <a:ea typeface="Noto Sans JP"/>
              </a:rPr>
              <a:t>④ 検知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2240280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>
                <a:solidFill>
                  <a:srgbClr val="232F3E"/>
                </a:solidFill>
                <a:latin typeface="Noto Sans JP"/>
                <a:ea typeface="Noto Sans JP"/>
              </a:rPr>
              <a:t>Grafana・Splunk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2624328"/>
            <a:ext cx="2176272" cy="7315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アラートを SNS の</a:t>
            </a:r>
          </a:p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トピックへ出す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77072" y="2606040"/>
            <a:ext cx="292608" cy="0"/>
          </a:xfrm>
          <a:prstGeom prst="line">
            <a:avLst/>
          </a:prstGeom>
          <a:ln w="19050">
            <a:solidFill>
              <a:srgbClr val="008A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1722608" y="1691640"/>
            <a:ext cx="2450592" cy="1828800"/>
          </a:xfrm>
          <a:prstGeom prst="roundRect">
            <a:avLst>
              <a:gd name="adj" fmla="val 6000"/>
            </a:avLst>
          </a:prstGeom>
          <a:solidFill>
            <a:srgbClr val="E6F6F7"/>
          </a:solidFill>
          <a:ln w="12700">
            <a:solidFill>
              <a:srgbClr val="00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59768" y="1801368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1">
                <a:solidFill>
                  <a:srgbClr val="008A8C"/>
                </a:solidFill>
                <a:latin typeface="Noto Sans JP"/>
                <a:ea typeface="Noto Sans JP"/>
              </a:rPr>
              <a:t>⑤ 調査・承認・修復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59768" y="2240280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>
                <a:solidFill>
                  <a:srgbClr val="232F3E"/>
                </a:solidFill>
                <a:latin typeface="Noto Sans JP"/>
                <a:ea typeface="Noto Sans JP"/>
              </a:rPr>
              <a:t>Temporal + AI エージェント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59768" y="2624328"/>
            <a:ext cx="2176272" cy="7315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原因と修復案を出し</a:t>
            </a:r>
          </a:p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人の承認のあと lab を直す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393424" y="2606040"/>
            <a:ext cx="292608" cy="0"/>
          </a:xfrm>
          <a:prstGeom prst="line">
            <a:avLst/>
          </a:prstGeom>
          <a:ln w="19050">
            <a:solidFill>
              <a:srgbClr val="008A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200" y="3840480"/>
            <a:ext cx="137160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232F3E"/>
                </a:solidFill>
                <a:latin typeface="Noto Sans JP"/>
                <a:ea typeface="Noto Sans JP"/>
              </a:rPr>
              <a:t>まわりで支えるもの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251960"/>
            <a:ext cx="3154680" cy="160020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D96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343400"/>
            <a:ext cx="28803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D96B1E"/>
                </a:solidFill>
                <a:latin typeface="Noto Sans JP"/>
                <a:ea typeface="Noto Sans JP"/>
              </a:rPr>
              <a:t>Nautobot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754880"/>
            <a:ext cx="2880360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機器の一覧とケーブルの正（NAUTOBOT=1）</a:t>
            </a:r>
          </a:p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変えると Job が ① の取りにいく先と</a:t>
            </a:r>
          </a:p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Neptune のトポロジを合わせる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77639" y="4251960"/>
            <a:ext cx="3154680" cy="16002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0" y="4343400"/>
            <a:ext cx="28803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232F3E"/>
                </a:solidFill>
                <a:latin typeface="Noto Sans JP"/>
                <a:ea typeface="Noto Sans JP"/>
              </a:rPr>
              <a:t>Amazon Neptune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754880"/>
            <a:ext cx="2880360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トポロジ（機器・IF・回線）</a:t>
            </a:r>
          </a:p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アラートで status が変わる</a:t>
            </a:r>
          </a:p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修復案もここに置く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79" y="4251960"/>
            <a:ext cx="3154680" cy="16002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5240" y="4343400"/>
            <a:ext cx="28803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232F3E"/>
                </a:solidFill>
                <a:latin typeface="Noto Sans JP"/>
                <a:ea typeface="Noto Sans JP"/>
              </a:rPr>
              <a:t>Web の画面（EC2）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4754880"/>
            <a:ext cx="2880360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チャット（AI エージェントに聞く）</a:t>
            </a:r>
          </a:p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トポロジ（Neptune を図で見る）</a:t>
            </a:r>
          </a:p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承認（修復案を人が承認・却下）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018520" y="4251960"/>
            <a:ext cx="3154680" cy="16002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55680" y="4343400"/>
            <a:ext cx="28803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232F3E"/>
                </a:solidFill>
                <a:latin typeface="Noto Sans JP"/>
                <a:ea typeface="Noto Sans JP"/>
              </a:rPr>
              <a:t>lab（EC2）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4754880"/>
            <a:ext cx="2880360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containerlab + Nokia SR Linux</a:t>
            </a:r>
          </a:p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本番の機器の代わり</a:t>
            </a:r>
          </a:p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修復は SSM Run Command で入れる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263640"/>
            <a:ext cx="13716000" cy="141732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6336792"/>
            <a:ext cx="13441680" cy="12710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閉域</a:t>
            </a:r>
          </a:p>
          <a:p>
            <a:pPr algn="l"/>
            <a:r>
              <a:rPr sz="1000" b="0">
                <a:solidFill>
                  <a:srgbClr val="232F3E"/>
                </a:solidFill>
                <a:latin typeface="Noto Sans JP"/>
                <a:ea typeface="Noto Sans JP"/>
              </a:rPr>
              <a:t>・VPC にインターネットへの経路は無い（IGW も NAT Gateway も作らない）。AWS の API へは VPC エンドポイントからだけ行き、それ以外の呼び出しは Deny で拒む。</a:t>
            </a:r>
          </a:p>
          <a:p>
            <a:pPr algn="l"/>
            <a:r>
              <a:rPr sz="1000" b="0">
                <a:solidFill>
                  <a:srgbClr val="232F3E"/>
                </a:solidFill>
                <a:latin typeface="Noto Sans JP"/>
                <a:ea typeface="Noto Sans JP"/>
              </a:rPr>
              <a:t>・画面（Web・Grafana・Splunk・Temporal・Nautobot）は、Web の EC2 を踏み台にした SSM のポートフォワーディングで PC の localhost に開く。</a:t>
            </a:r>
          </a:p>
          <a:p>
            <a:pPr algn="l"/>
            <a:r>
              <a:rPr sz="1000" b="0">
                <a:solidFill>
                  <a:srgbClr val="232F3E"/>
                </a:solidFill>
                <a:latin typeface="Noto Sans JP"/>
                <a:ea typeface="Noto Sans JP"/>
              </a:rPr>
              <a:t>・作るのは ops/up.sh、消すのは ops/down.sh。何を作るかは deploy.env（AGENT / PIPELINE / WORKFLOW / NAUTOBOT など）。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0" y="7818120"/>
            <a:ext cx="9144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Noto Sans JP"/>
                <a:ea typeface="Noto Sans JP"/>
              </a:rPr>
              <a:t>① 〜 ③ 収集から格納まで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3716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0">
                <a:solidFill>
                  <a:srgbClr val="5A6775"/>
                </a:solidFill>
                <a:latin typeface="Noto Sans JP"/>
                <a:ea typeface="Noto Sans JP"/>
              </a:rPr>
              <a:t>Telegraf は役割で 2 つのサービスに分けた。dialout は機器が送ってくるものを受け、dialin はこちらから取りにいく。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3716000" cy="27432"/>
          </a:xfrm>
          <a:prstGeom prst="rect">
            <a:avLst/>
          </a:prstGeom>
          <a:solidFill>
            <a:srgbClr val="008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2286000" cy="45720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55064"/>
            <a:ext cx="2066543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機器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600200"/>
            <a:ext cx="4754880" cy="45720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1568" y="1655064"/>
            <a:ext cx="453542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① 収集（stream の ECS Fargate）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600200"/>
            <a:ext cx="1828800" cy="45720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13648" y="1655064"/>
            <a:ext cx="160934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② ストリーム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0" y="1600200"/>
            <a:ext cx="3383280" cy="45720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99648" y="1655064"/>
            <a:ext cx="316382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③ 格納</a:t>
            </a:r>
          </a:p>
        </p:txBody>
      </p:sp>
      <p:pic>
        <p:nvPicPr>
          <p:cNvPr id="13" name="Picture 12" descr="d0809f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3246120"/>
            <a:ext cx="512064" cy="5120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3785615"/>
            <a:ext cx="210312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lab の EC2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containerlab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Nokia SR Linux</a:t>
            </a:r>
          </a:p>
        </p:txBody>
      </p:sp>
      <p:pic>
        <p:nvPicPr>
          <p:cNvPr id="15" name="Picture 14" descr="7bcba2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7" y="2240280"/>
            <a:ext cx="512064" cy="5120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337559" y="2779776"/>
            <a:ext cx="173736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内部 NLB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trap 162 / syslog 5140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MDT 57000</a:t>
            </a:r>
          </a:p>
        </p:txBody>
      </p:sp>
      <p:pic>
        <p:nvPicPr>
          <p:cNvPr id="17" name="Picture 16" descr="fe06d0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240280"/>
            <a:ext cx="512064" cy="5120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0" y="2779776"/>
            <a:ext cx="237744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Telegraf dialout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受ける側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増やしても重複しない</a:t>
            </a:r>
          </a:p>
        </p:txBody>
      </p:sp>
      <p:pic>
        <p:nvPicPr>
          <p:cNvPr id="19" name="Picture 18" descr="fe06d0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4434840"/>
            <a:ext cx="512064" cy="5120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94960" y="4974336"/>
            <a:ext cx="256032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Telegraf dialin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取りにいく側（1 タスク）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一覧と認証情報は SSM から</a:t>
            </a:r>
          </a:p>
        </p:txBody>
      </p:sp>
      <p:pic>
        <p:nvPicPr>
          <p:cNvPr id="21" name="Picture 20" descr="f61fbb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2288" y="3246120"/>
            <a:ext cx="512064" cy="5120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549640" y="3785615"/>
            <a:ext cx="173736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Amazon MSK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metrics / gnmi / mdt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traps / logs</a:t>
            </a:r>
          </a:p>
        </p:txBody>
      </p:sp>
      <p:pic>
        <p:nvPicPr>
          <p:cNvPr id="23" name="Picture 22" descr="ee37f5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11128" y="3246120"/>
            <a:ext cx="512064" cy="5120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652760" y="3785615"/>
            <a:ext cx="182880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Spark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EMR Serverless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流すだけ（検知はしない）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920240" y="2560320"/>
            <a:ext cx="1965960" cy="68580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48840" y="2331720"/>
            <a:ext cx="1188720" cy="40233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5A6775"/>
                </a:solidFill>
                <a:latin typeface="Noto Sans JP"/>
                <a:ea typeface="Noto Sans JP"/>
              </a:rPr>
              <a:t>機器が送る</a:t>
            </a:r>
          </a:p>
          <a:p>
            <a:pPr algn="ctr"/>
            <a:r>
              <a:rPr sz="800" b="0">
                <a:solidFill>
                  <a:srgbClr val="5A6775"/>
                </a:solidFill>
                <a:latin typeface="Noto Sans JP"/>
                <a:ea typeface="Noto Sans JP"/>
              </a:rPr>
              <a:t>trap・syslog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26280" y="2496312"/>
            <a:ext cx="1828800" cy="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965960" y="3749039"/>
            <a:ext cx="4389120" cy="941833"/>
          </a:xfrm>
          <a:prstGeom prst="line">
            <a:avLst/>
          </a:prstGeom>
          <a:ln w="19050">
            <a:solidFill>
              <a:srgbClr val="6B778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337560" y="4480560"/>
            <a:ext cx="2103120" cy="40233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5A6775"/>
                </a:solidFill>
                <a:latin typeface="Noto Sans JP"/>
                <a:ea typeface="Noto Sans JP"/>
              </a:rPr>
              <a:t>取りにいく</a:t>
            </a:r>
          </a:p>
          <a:p>
            <a:pPr algn="ctr"/>
            <a:r>
              <a:rPr sz="800" b="0">
                <a:solidFill>
                  <a:srgbClr val="5A6775"/>
                </a:solidFill>
                <a:latin typeface="Noto Sans JP"/>
                <a:ea typeface="Noto Sans JP"/>
              </a:rPr>
              <a:t>gNMI 購読・SNMP ポーリング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60" y="2606040"/>
            <a:ext cx="2103120" cy="77724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995160" y="3657600"/>
            <a:ext cx="2103120" cy="96012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738360" y="3502152"/>
            <a:ext cx="1508760" cy="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927080" y="4572000"/>
            <a:ext cx="310896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1">
                <a:solidFill>
                  <a:srgbClr val="5A6775"/>
                </a:solidFill>
                <a:latin typeface="Noto Sans JP"/>
                <a:ea typeface="Noto Sans JP"/>
              </a:rPr>
              <a:t>Spark の書き先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27080" y="4828032"/>
            <a:ext cx="32004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232F3E"/>
                </a:solidFill>
                <a:latin typeface="Noto Sans JP"/>
                <a:ea typeface="Noto Sans JP"/>
              </a:rPr>
              <a:t>・S3 Tables: 全トピック（正本）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27080" y="5157216"/>
            <a:ext cx="32004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232F3E"/>
                </a:solidFill>
                <a:latin typeface="Noto Sans JP"/>
                <a:ea typeface="Noto Sans JP"/>
              </a:rPr>
              <a:t>・OpenSearch: traps / logs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5486400"/>
            <a:ext cx="32004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232F3E"/>
                </a:solidFill>
                <a:latin typeface="Noto Sans JP"/>
                <a:ea typeface="Noto Sans JP"/>
              </a:rPr>
              <a:t>・Prometheus: metrics / gnmi / mdt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27080" y="5815584"/>
            <a:ext cx="32004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232F3E"/>
                </a:solidFill>
                <a:latin typeface="Noto Sans JP"/>
                <a:ea typeface="Noto Sans JP"/>
              </a:rPr>
              <a:t>・Splunk（ECS）: 全トピック（SINK_SPLUNK=1）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6400800"/>
            <a:ext cx="13716000" cy="128016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6473952"/>
            <a:ext cx="13441680" cy="11338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232F3E"/>
                </a:solidFill>
                <a:latin typeface="Noto Sans JP"/>
                <a:ea typeface="Noto Sans JP"/>
              </a:rPr>
              <a:t>・本番の Cisco の telemetry と性能メトリクスは MDT の dial-out（57000/tcp）で受ける方針。lab の SR Linux は MDT を送れないので gNMI で取り、Telegraf の中で共通の形に変える。</a:t>
            </a:r>
          </a:p>
          <a:p>
            <a:pPr algn="l"/>
            <a:r>
              <a:rPr sz="1000" b="0">
                <a:solidFill>
                  <a:srgbClr val="232F3E"/>
                </a:solidFill>
                <a:latin typeface="Noto Sans JP"/>
                <a:ea typeface="Noto Sans JP"/>
              </a:rPr>
              <a:t>・dialin が取りにいく機器の一覧は SSM のパラメータ。NAUTOBOT=1 のときは Nautobot の Job が書き換える（4 枚目）。</a:t>
            </a:r>
          </a:p>
          <a:p>
            <a:pPr algn="l"/>
            <a:r>
              <a:rPr sz="1000" b="0">
                <a:solidFill>
                  <a:srgbClr val="232F3E"/>
                </a:solidFill>
                <a:latin typeface="Noto Sans JP"/>
                <a:ea typeface="Noto Sans JP"/>
              </a:rPr>
              <a:t>・SNMP のポーリングは SNMP_POLL=1 のときだけ（既定は trap だけ受ける）。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0" y="7818120"/>
            <a:ext cx="9144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Noto Sans JP"/>
                <a:ea typeface="Noto Sans JP"/>
              </a:rPr>
              <a:t>④ 〜 ⑤ 検知から修復まで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3716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0">
                <a:solidFill>
                  <a:srgbClr val="5A6775"/>
                </a:solidFill>
                <a:latin typeface="Noto Sans JP"/>
                <a:ea typeface="Noto Sans JP"/>
              </a:rPr>
              <a:t>アラートは SNS のトピック 1 つに集める。トポロジの status を書き換え、ワークフローが調査 → 人の承認 → 修復と進める。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3716000" cy="27432"/>
          </a:xfrm>
          <a:prstGeom prst="rect">
            <a:avLst/>
          </a:prstGeom>
          <a:solidFill>
            <a:srgbClr val="008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2377440" cy="621792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55064"/>
            <a:ext cx="215798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④ 検知（analytics の ECS）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600200"/>
            <a:ext cx="8595360" cy="210312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87568" y="1655064"/>
            <a:ext cx="837590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トポロジに映す（graph）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3931920"/>
            <a:ext cx="8595360" cy="38862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87568" y="3986783"/>
            <a:ext cx="837590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⑤ 調査 → 承認 → 修復（workflow）</a:t>
            </a:r>
          </a:p>
        </p:txBody>
      </p:sp>
      <p:pic>
        <p:nvPicPr>
          <p:cNvPr id="11" name="Picture 10" descr="fe06d0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2286000"/>
            <a:ext cx="512064" cy="5120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2825496"/>
            <a:ext cx="219456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Grafana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アラートルール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link_down（SNMP）</a:t>
            </a:r>
          </a:p>
        </p:txBody>
      </p:sp>
      <p:pic>
        <p:nvPicPr>
          <p:cNvPr id="13" name="Picture 12" descr="fe06d0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4846320"/>
            <a:ext cx="512064" cy="5120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5385816"/>
            <a:ext cx="219456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Splunk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保存済みサーチ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trap / BGP / IS-IS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50207" y="3566160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C7246B"/>
          </a:solidFill>
          <a:ln w="12700">
            <a:solidFill>
              <a:srgbClr val="C72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SNS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105656"/>
            <a:ext cx="237744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Amazon SNS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&lt;prefix&gt;-alerts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同じ障害を 1 つにまとめる</a:t>
            </a:r>
          </a:p>
        </p:txBody>
      </p:sp>
      <p:pic>
        <p:nvPicPr>
          <p:cNvPr id="17" name="Picture 16" descr="c4524d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2194560"/>
            <a:ext cx="512064" cy="5120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60720" y="2734056"/>
            <a:ext cx="1828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graph の Lambda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status を書く</a:t>
            </a:r>
          </a:p>
        </p:txBody>
      </p:sp>
      <p:pic>
        <p:nvPicPr>
          <p:cNvPr id="19" name="Picture 18" descr="3e5bda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88" y="2194560"/>
            <a:ext cx="512064" cy="5120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0" y="2734056"/>
            <a:ext cx="237744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Amazon Neptune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トポロジ・status・修復案</a:t>
            </a:r>
          </a:p>
        </p:txBody>
      </p:sp>
      <p:pic>
        <p:nvPicPr>
          <p:cNvPr id="21" name="Picture 20" descr="d0809f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54128" y="2194560"/>
            <a:ext cx="512064" cy="5120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430000" y="2734056"/>
            <a:ext cx="256032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Web の EC2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承認タブで人が承認・却下</a:t>
            </a:r>
          </a:p>
        </p:txBody>
      </p:sp>
      <p:pic>
        <p:nvPicPr>
          <p:cNvPr id="23" name="Picture 22" descr="ef1763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4663440"/>
            <a:ext cx="512064" cy="5120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60720" y="5202936"/>
            <a:ext cx="1828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Amazon SQS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アラートを受ける</a:t>
            </a:r>
          </a:p>
        </p:txBody>
      </p:sp>
      <p:pic>
        <p:nvPicPr>
          <p:cNvPr id="25" name="Picture 24" descr="fe06d0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88" y="4663440"/>
            <a:ext cx="512064" cy="5120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412480" y="5202936"/>
            <a:ext cx="201168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Temporal（ECS）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ワークフロー</a:t>
            </a:r>
          </a:p>
        </p:txBody>
      </p:sp>
      <p:pic>
        <p:nvPicPr>
          <p:cNvPr id="27" name="Picture 26" descr="fab8e39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54128" y="4663440"/>
            <a:ext cx="512064" cy="5120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338560" y="5202936"/>
            <a:ext cx="2743200" cy="11887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AgentCore Runtime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AI エージェント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Gateway（MCP）のツールで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Neptune・ログ・メトリクスを読む</a:t>
            </a:r>
          </a:p>
        </p:txBody>
      </p:sp>
      <p:pic>
        <p:nvPicPr>
          <p:cNvPr id="29" name="Picture 28" descr="d0809f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2288" y="6583680"/>
            <a:ext cx="512064" cy="5120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412480" y="7123176"/>
            <a:ext cx="201168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lab の EC2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機器の設定を直す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965960" y="2651760"/>
            <a:ext cx="1920240" cy="100584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965960" y="3977639"/>
            <a:ext cx="1920240" cy="1051561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526280" y="2560320"/>
            <a:ext cx="1828800" cy="109728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26280" y="3977639"/>
            <a:ext cx="1828800" cy="868681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995160" y="2450592"/>
            <a:ext cx="2103120" cy="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9738360" y="2450592"/>
            <a:ext cx="2651760" cy="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789920" y="2194560"/>
            <a:ext cx="5486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5A6775"/>
                </a:solidFill>
                <a:latin typeface="Noto Sans JP"/>
                <a:ea typeface="Noto Sans JP"/>
              </a:rPr>
              <a:t>承認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995160" y="4919472"/>
            <a:ext cx="2103120" cy="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646670" y="4663440"/>
            <a:ext cx="8001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5A6775"/>
                </a:solidFill>
                <a:latin typeface="Noto Sans JP"/>
                <a:ea typeface="Noto Sans JP"/>
              </a:rPr>
              <a:t>起動・解消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738360" y="4919472"/>
            <a:ext cx="2651760" cy="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417302" y="4663440"/>
            <a:ext cx="1293876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5A6775"/>
                </a:solidFill>
                <a:latin typeface="Noto Sans JP"/>
                <a:ea typeface="Noto Sans JP"/>
              </a:rPr>
              <a:t>原因と修復案を聞く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9418320" y="3154680"/>
            <a:ext cx="0" cy="1463040"/>
          </a:xfrm>
          <a:prstGeom prst="line">
            <a:avLst/>
          </a:prstGeom>
          <a:ln w="19050">
            <a:solidFill>
              <a:srgbClr val="6B7785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491472" y="4069080"/>
            <a:ext cx="6400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5A6775"/>
                </a:solidFill>
                <a:latin typeface="Noto Sans JP"/>
                <a:ea typeface="Noto Sans JP"/>
              </a:rPr>
              <a:t>修復案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418320" y="5760720"/>
            <a:ext cx="0" cy="77724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509760" y="6053328"/>
            <a:ext cx="23774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5A6775"/>
                </a:solidFill>
                <a:latin typeface="Noto Sans JP"/>
                <a:ea typeface="Noto Sans JP"/>
              </a:rPr>
              <a:t>承認されたら SSM Run Command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0" y="6903720"/>
            <a:ext cx="310896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5A6775"/>
                </a:solidFill>
                <a:latin typeface="Noto Sans JP"/>
                <a:ea typeface="Noto Sans JP"/>
              </a:rPr>
              <a:t>作成・承認・却下・適用・確認の</a:t>
            </a:r>
          </a:p>
          <a:p>
            <a:pPr algn="l"/>
            <a:r>
              <a:rPr sz="900" b="0">
                <a:solidFill>
                  <a:srgbClr val="5A6775"/>
                </a:solidFill>
                <a:latin typeface="Noto Sans JP"/>
                <a:ea typeface="Noto Sans JP"/>
              </a:rPr>
              <a:t>履歴は S3 Tables（証跡）に残す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258800" y="7818120"/>
            <a:ext cx="9144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Noto Sans JP"/>
                <a:ea typeface="Noto Sans JP"/>
              </a:rPr>
              <a:t>Nautobot 連携（NAUTOBOT=1）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3716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0">
                <a:solidFill>
                  <a:srgbClr val="5A6775"/>
                </a:solidFill>
                <a:latin typeface="Noto Sans JP"/>
                <a:ea typeface="Noto Sans JP"/>
              </a:rPr>
              <a:t>機器の一覧とケーブルの正を Nautobot に置く。Nautobot で変えると、Job が Telegraf の取りにいく先と Neptune のトポロジを合わせる。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3716000" cy="27432"/>
          </a:xfrm>
          <a:prstGeom prst="rect">
            <a:avLst/>
          </a:prstGeom>
          <a:solidFill>
            <a:srgbClr val="008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5760720" cy="251460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D96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55064"/>
            <a:ext cx="554126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D96B1E"/>
                </a:solidFill>
                <a:latin typeface="Noto Sans JP"/>
                <a:ea typeface="Noto Sans JP"/>
              </a:rPr>
              <a:t>Nautobot 3.2（ECS Fargate の 1 タスク + RDS）</a:t>
            </a:r>
          </a:p>
        </p:txBody>
      </p:sp>
      <p:pic>
        <p:nvPicPr>
          <p:cNvPr id="7" name="Picture 6" descr="7a282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2377440"/>
            <a:ext cx="512064" cy="512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2916936"/>
            <a:ext cx="182880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運用者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機器・Service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ケーブルを変える</a:t>
            </a:r>
          </a:p>
        </p:txBody>
      </p:sp>
      <p:pic>
        <p:nvPicPr>
          <p:cNvPr id="9" name="Picture 8" descr="fe06d0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528" y="2377440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0" y="2916936"/>
            <a:ext cx="210312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web・worker・Redis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画面と API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Celery が Job を回す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1768" y="2377440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2E5FD8"/>
          </a:solidFill>
          <a:ln w="12700">
            <a:solidFill>
              <a:srgbClr val="2E5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916936"/>
            <a:ext cx="164592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PostgreSQL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RDS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db.t4g.micro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83080" y="2633472"/>
            <a:ext cx="1234440" cy="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57600" y="2633472"/>
            <a:ext cx="1280160" cy="0"/>
          </a:xfrm>
          <a:prstGeom prst="line">
            <a:avLst/>
          </a:prstGeom>
          <a:ln w="19050">
            <a:solidFill>
              <a:srgbClr val="6B7785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58000" y="233172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6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560320"/>
            <a:ext cx="2011680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300" b="1">
                <a:solidFill>
                  <a:srgbClr val="D96B1E"/>
                </a:solidFill>
                <a:latin typeface="Noto Sans JP"/>
                <a:ea typeface="Noto Sans JP"/>
              </a:rPr>
              <a:t>Job</a:t>
            </a:r>
          </a:p>
          <a:p>
            <a:pPr algn="ctr"/>
            <a:r>
              <a:rPr sz="900" b="0">
                <a:solidFill>
                  <a:srgbClr val="232F3E"/>
                </a:solidFill>
                <a:latin typeface="Noto Sans JP"/>
                <a:ea typeface="Noto Sans JP"/>
              </a:rPr>
              <a:t>変更のたび（JobHook）</a:t>
            </a:r>
          </a:p>
          <a:p>
            <a:pPr algn="ctr"/>
            <a:r>
              <a:rPr sz="900" b="0">
                <a:solidFill>
                  <a:srgbClr val="232F3E"/>
                </a:solidFill>
                <a:latin typeface="Noto Sans JP"/>
                <a:ea typeface="Noto Sans JP"/>
              </a:rPr>
              <a:t>または手で実行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63640" y="3017520"/>
            <a:ext cx="548640" cy="0"/>
          </a:xfrm>
          <a:prstGeom prst="line">
            <a:avLst/>
          </a:prstGeom>
          <a:ln w="19050">
            <a:solidFill>
              <a:srgbClr val="D96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c35ba5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08" y="1783080"/>
            <a:ext cx="512064" cy="5120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61119" y="2322575"/>
            <a:ext cx="237744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SSM のパラメータ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gNMI・SNMP の機器の一覧</a:t>
            </a:r>
          </a:p>
        </p:txBody>
      </p:sp>
      <p:pic>
        <p:nvPicPr>
          <p:cNvPr id="20" name="Picture 19" descr="fe06d0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7008" y="1783080"/>
            <a:ext cx="512064" cy="5120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704319" y="2322575"/>
            <a:ext cx="237744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Telegraf dialin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サービスを作り直して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新しい一覧で取りにいく</a:t>
            </a:r>
          </a:p>
        </p:txBody>
      </p:sp>
      <p:pic>
        <p:nvPicPr>
          <p:cNvPr id="22" name="Picture 21" descr="3e5bda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703320"/>
            <a:ext cx="512064" cy="5120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241280" y="4242816"/>
            <a:ext cx="256032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Amazon Neptune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物理層（機器・IF・回線）を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Gremlin で差分だけ書く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9006840" y="2194560"/>
            <a:ext cx="822960" cy="548640"/>
          </a:xfrm>
          <a:prstGeom prst="line">
            <a:avLst/>
          </a:prstGeom>
          <a:ln w="19050">
            <a:solidFill>
              <a:srgbClr val="D96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03920" y="1920240"/>
            <a:ext cx="1371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D96B1E"/>
                </a:solidFill>
                <a:latin typeface="Noto Sans JP"/>
                <a:ea typeface="Noto Sans JP"/>
              </a:rPr>
              <a:t>① 一覧を書き換え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469880" y="2039112"/>
            <a:ext cx="2103120" cy="0"/>
          </a:xfrm>
          <a:prstGeom prst="line">
            <a:avLst/>
          </a:prstGeom>
          <a:ln w="19050">
            <a:solidFill>
              <a:srgbClr val="D96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006840" y="3291840"/>
            <a:ext cx="2194560" cy="640080"/>
          </a:xfrm>
          <a:prstGeom prst="line">
            <a:avLst/>
          </a:prstGeom>
          <a:ln w="19050">
            <a:solidFill>
              <a:srgbClr val="D96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778240" y="3794760"/>
            <a:ext cx="173736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D96B1E"/>
                </a:solidFill>
                <a:latin typeface="Noto Sans JP"/>
                <a:ea typeface="Noto Sans JP"/>
              </a:rPr>
              <a:t>② トポロジを合わせる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846320"/>
            <a:ext cx="6675120" cy="283464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901183"/>
            <a:ext cx="645566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Nautobot の何が、どこに映るか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394960"/>
            <a:ext cx="27432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1">
                <a:solidFill>
                  <a:srgbClr val="232F3E"/>
                </a:solidFill>
                <a:latin typeface="Noto Sans JP"/>
                <a:ea typeface="Noto Sans JP"/>
              </a:rPr>
              <a:t>Device の Service「gnmi」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5394960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A6775"/>
                </a:solidFill>
                <a:latin typeface="Noto Sans JP"/>
                <a:ea typeface="Noto Sans JP"/>
              </a:rPr>
              <a:t>→ Telegraf の gNMI の購読先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27432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1">
                <a:solidFill>
                  <a:srgbClr val="232F3E"/>
                </a:solidFill>
                <a:latin typeface="Noto Sans JP"/>
                <a:ea typeface="Noto Sans JP"/>
              </a:rPr>
              <a:t>Device の Service「snmp」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5897880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A6775"/>
                </a:solidFill>
                <a:latin typeface="Noto Sans JP"/>
                <a:ea typeface="Noto Sans JP"/>
              </a:rPr>
              <a:t>→ Telegraf の SNMP のポーリング先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1">
                <a:solidFill>
                  <a:srgbClr val="232F3E"/>
                </a:solidFill>
                <a:latin typeface="Noto Sans JP"/>
                <a:ea typeface="Noto Sans JP"/>
              </a:rPr>
              <a:t>Device・Interface・IP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6400800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A6775"/>
                </a:solidFill>
                <a:latin typeface="Noto Sans JP"/>
                <a:ea typeface="Noto Sans JP"/>
              </a:rPr>
              <a:t>→ Neptune の機器と IF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903720"/>
            <a:ext cx="27432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1">
                <a:solidFill>
                  <a:srgbClr val="232F3E"/>
                </a:solidFill>
                <a:latin typeface="Noto Sans JP"/>
                <a:ea typeface="Noto Sans JP"/>
              </a:rPr>
              <a:t>Cable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6903720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A6775"/>
                </a:solidFill>
                <a:latin typeface="Noto Sans JP"/>
                <a:ea typeface="Noto Sans JP"/>
              </a:rPr>
              <a:t>→ Neptune の回線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79" y="4846320"/>
            <a:ext cx="6675120" cy="283464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FF4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35240" y="4919472"/>
            <a:ext cx="6400800" cy="268833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押さえておくこと</a:t>
            </a:r>
          </a:p>
          <a:p>
            <a:pPr algn="l"/>
            <a:r>
              <a:rPr sz="950" b="0">
                <a:solidFill>
                  <a:srgbClr val="232F3E"/>
                </a:solidFill>
                <a:latin typeface="Noto Sans JP"/>
                <a:ea typeface="Noto Sans JP"/>
              </a:rPr>
              <a:t>・最初の起動だけ、lab の定義から機器とケーブルが入る。</a:t>
            </a:r>
          </a:p>
          <a:p>
            <a:pPr algn="l"/>
            <a:r>
              <a:rPr sz="950" b="0">
                <a:solidFill>
                  <a:srgbClr val="232F3E"/>
                </a:solidFill>
                <a:latin typeface="Noto Sans JP"/>
                <a:ea typeface="Noto Sans JP"/>
              </a:rPr>
              <a:t>・シークレット（管理者・DB のパスワードなど）は SSM の SecureString。</a:t>
            </a:r>
          </a:p>
          <a:p>
            <a:pPr algn="l"/>
            <a:r>
              <a:rPr sz="950" b="0">
                <a:solidFill>
                  <a:srgbClr val="232F3E"/>
                </a:solidFill>
                <a:latin typeface="Noto Sans JP"/>
                <a:ea typeface="Noto Sans JP"/>
              </a:rPr>
              <a:t>・NAUTOBOT=1 の間は、Web の画面からトポロジを編集できない（正は Nautobot）。</a:t>
            </a:r>
          </a:p>
          <a:p>
            <a:pPr algn="l"/>
            <a:r>
              <a:rPr sz="950" b="0">
                <a:solidFill>
                  <a:srgbClr val="232F3E"/>
                </a:solidFill>
                <a:latin typeface="Noto Sans JP"/>
                <a:ea typeface="Noto Sans JP"/>
              </a:rPr>
              <a:t>・アラートが書く status と、IP 層より上のトポロジには触らない。</a:t>
            </a:r>
          </a:p>
          <a:p>
            <a:pPr algn="l"/>
            <a:r>
              <a:rPr sz="950" b="0">
                <a:solidFill>
                  <a:srgbClr val="232F3E"/>
                </a:solidFill>
                <a:latin typeface="Noto Sans JP"/>
                <a:ea typeface="Noto Sans JP"/>
              </a:rPr>
              <a:t>・ops/down.sh で DB ごと消える（編集した内容は残らない）。</a:t>
            </a:r>
          </a:p>
          <a:p>
            <a:pPr algn="l"/>
            <a:r>
              <a:rPr sz="950" b="0">
                <a:solidFill>
                  <a:srgbClr val="232F3E"/>
                </a:solidFill>
                <a:latin typeface="Noto Sans JP"/>
                <a:ea typeface="Noto Sans JP"/>
              </a:rPr>
              <a:t>・デバッグ用の EC2 は Nautobot を使わない（lab の定義の一覧のまま）。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0" y="7818120"/>
            <a:ext cx="9144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Noto Sans JP"/>
                <a:ea typeface="Noto Sans JP"/>
              </a:rPr>
              <a:t>どこで何が動くか（配置と閉域）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3716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0">
                <a:solidFill>
                  <a:srgbClr val="5A6775"/>
                </a:solidFill>
                <a:latin typeface="Noto Sans JP"/>
                <a:ea typeface="Noto Sans JP"/>
              </a:rPr>
              <a:t>全部がプライベートサブネットの中。PoC は EC2・ECS のタスク・NLB をサブネット a に 1 つずつ置く（冗長にしていない）。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3716000" cy="27432"/>
          </a:xfrm>
          <a:prstGeom prst="rect">
            <a:avLst/>
          </a:prstGeom>
          <a:solidFill>
            <a:srgbClr val="008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7a282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7" y="3291840"/>
            <a:ext cx="512064" cy="51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" y="3831336"/>
            <a:ext cx="2103120" cy="1463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運用者の PC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localhost で開く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Web 8080 / Grafana 3000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Splunk 8000 / Temporal 8233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Nautobot 8081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600200"/>
            <a:ext cx="7680960" cy="6080760"/>
          </a:xfrm>
          <a:prstGeom prst="roundRect">
            <a:avLst>
              <a:gd name="adj" fmla="val 2000"/>
            </a:avLst>
          </a:prstGeom>
          <a:noFill/>
          <a:ln w="19050">
            <a:solidFill>
              <a:srgbClr val="8C4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1488" y="1655064"/>
            <a:ext cx="746150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8C4FFF"/>
                </a:solidFill>
                <a:latin typeface="Noto Sans JP"/>
                <a:ea typeface="Noto Sans JP"/>
              </a:rPr>
              <a:t>VPC（プライベートサブネットだけ。IGW・NAT Gateway 無し）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103120"/>
            <a:ext cx="2286000" cy="329184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2157984"/>
            <a:ext cx="2066543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EC2</a:t>
            </a:r>
          </a:p>
        </p:txBody>
      </p:sp>
      <p:pic>
        <p:nvPicPr>
          <p:cNvPr id="11" name="Picture 10" descr="d0809f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2606040"/>
            <a:ext cx="512064" cy="5120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17520" y="3145536"/>
            <a:ext cx="201168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Web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Gradio・踏み台</a:t>
            </a:r>
          </a:p>
        </p:txBody>
      </p:sp>
      <p:pic>
        <p:nvPicPr>
          <p:cNvPr id="13" name="Picture 12" descr="d0809f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3977639"/>
            <a:ext cx="512064" cy="5120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17520" y="4517136"/>
            <a:ext cx="201168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lab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containerlab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2103120"/>
            <a:ext cx="4709160" cy="329184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4688" y="2157984"/>
            <a:ext cx="448970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ECS Fargate</a:t>
            </a:r>
          </a:p>
        </p:txBody>
      </p:sp>
      <p:pic>
        <p:nvPicPr>
          <p:cNvPr id="17" name="Picture 16" descr="fe06d0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560320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0" y="2532888"/>
            <a:ext cx="173736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Telegraf dialout</a:t>
            </a:r>
          </a:p>
          <a:p>
            <a:pPr algn="l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stream</a:t>
            </a:r>
          </a:p>
        </p:txBody>
      </p:sp>
      <p:pic>
        <p:nvPicPr>
          <p:cNvPr id="19" name="Picture 18" descr="fe06d0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560320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75320" y="2532888"/>
            <a:ext cx="173736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Telegraf dialin</a:t>
            </a:r>
          </a:p>
          <a:p>
            <a:pPr algn="l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stream</a:t>
            </a:r>
          </a:p>
        </p:txBody>
      </p:sp>
      <p:pic>
        <p:nvPicPr>
          <p:cNvPr id="21" name="Picture 20" descr="fe06d0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3474720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35040" y="3447288"/>
            <a:ext cx="173736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Grafana</a:t>
            </a:r>
          </a:p>
          <a:p>
            <a:pPr algn="l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analytics</a:t>
            </a:r>
          </a:p>
        </p:txBody>
      </p:sp>
      <p:pic>
        <p:nvPicPr>
          <p:cNvPr id="23" name="Picture 22" descr="fe06d0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474720"/>
            <a:ext cx="384048" cy="3840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75320" y="3447288"/>
            <a:ext cx="173736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Splunk</a:t>
            </a:r>
          </a:p>
          <a:p>
            <a:pPr algn="l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analytics</a:t>
            </a:r>
          </a:p>
        </p:txBody>
      </p:sp>
      <p:pic>
        <p:nvPicPr>
          <p:cNvPr id="25" name="Picture 24" descr="fe06d0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4389120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35040" y="4361688"/>
            <a:ext cx="173736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Temporal</a:t>
            </a:r>
          </a:p>
          <a:p>
            <a:pPr algn="l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workflow</a:t>
            </a:r>
          </a:p>
        </p:txBody>
      </p:sp>
      <p:pic>
        <p:nvPicPr>
          <p:cNvPr id="27" name="Picture 26" descr="fe06d0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389120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75320" y="4361688"/>
            <a:ext cx="173736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Nautobot</a:t>
            </a:r>
          </a:p>
          <a:p>
            <a:pPr algn="l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nautobot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80360" y="5577840"/>
            <a:ext cx="4937760" cy="1874519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90088" y="5632703"/>
            <a:ext cx="471830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マネージド（VPC の中）</a:t>
            </a:r>
          </a:p>
        </p:txBody>
      </p:sp>
      <p:pic>
        <p:nvPicPr>
          <p:cNvPr id="31" name="Picture 30" descr="f61fbb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6035040"/>
            <a:ext cx="384048" cy="3840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502152" y="6099048"/>
            <a:ext cx="11887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MSK</a:t>
            </a:r>
          </a:p>
        </p:txBody>
      </p:sp>
      <p:pic>
        <p:nvPicPr>
          <p:cNvPr id="33" name="Picture 32" descr="3e5bdae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6035040"/>
            <a:ext cx="384048" cy="3840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102352" y="6099048"/>
            <a:ext cx="11887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Neptune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603504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2E5FD8"/>
          </a:solidFill>
          <a:ln w="12700">
            <a:solidFill>
              <a:srgbClr val="2E5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6035040"/>
            <a:ext cx="475488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Noto Sans JP"/>
                <a:ea typeface="Noto Sans JP"/>
              </a:rPr>
              <a:t>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02552" y="6099048"/>
            <a:ext cx="11887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RDS</a:t>
            </a:r>
          </a:p>
        </p:txBody>
      </p:sp>
      <p:pic>
        <p:nvPicPr>
          <p:cNvPr id="38" name="Picture 37" descr="ee37f53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3240" y="6693407"/>
            <a:ext cx="384048" cy="38404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502152" y="6757416"/>
            <a:ext cx="11887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EMR Serverless</a:t>
            </a:r>
          </a:p>
        </p:txBody>
      </p:sp>
      <p:pic>
        <p:nvPicPr>
          <p:cNvPr id="40" name="Picture 39" descr="c4524d4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6693407"/>
            <a:ext cx="384048" cy="38404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102352" y="6757416"/>
            <a:ext cx="11887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Lambda</a:t>
            </a:r>
          </a:p>
        </p:txBody>
      </p:sp>
      <p:pic>
        <p:nvPicPr>
          <p:cNvPr id="42" name="Picture 41" descr="7bcba28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3640" y="6693407"/>
            <a:ext cx="384048" cy="38404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702552" y="6757416"/>
            <a:ext cx="11887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内部 NLB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5577840"/>
            <a:ext cx="2057400" cy="1874519"/>
          </a:xfrm>
          <a:prstGeom prst="roundRect">
            <a:avLst>
              <a:gd name="adj" fmla="val 6000"/>
            </a:avLst>
          </a:prstGeom>
          <a:solidFill>
            <a:srgbClr val="E6F6F7"/>
          </a:solidFill>
          <a:ln w="12700">
            <a:solidFill>
              <a:srgbClr val="00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715fcfd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23960" y="5760720"/>
            <a:ext cx="457200" cy="4572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092440" y="6263640"/>
            <a:ext cx="196596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VPC エンドポイント</a:t>
            </a:r>
          </a:p>
          <a:p>
            <a:pPr algn="ctr"/>
            <a:r>
              <a:rPr sz="900" b="0">
                <a:solidFill>
                  <a:srgbClr val="5A6775"/>
                </a:solidFill>
                <a:latin typeface="Noto Sans JP"/>
                <a:ea typeface="Noto Sans JP"/>
              </a:rPr>
              <a:t>AWS の API は</a:t>
            </a:r>
          </a:p>
          <a:p>
            <a:pPr algn="ctr"/>
            <a:r>
              <a:rPr sz="900" b="0">
                <a:solidFill>
                  <a:srgbClr val="5A6775"/>
                </a:solidFill>
                <a:latin typeface="Noto Sans JP"/>
                <a:ea typeface="Noto Sans JP"/>
              </a:rPr>
              <a:t>ここからだけ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1737360" y="2926080"/>
            <a:ext cx="1965960" cy="621792"/>
          </a:xfrm>
          <a:prstGeom prst="line">
            <a:avLst/>
          </a:prstGeom>
          <a:ln w="19050">
            <a:solidFill>
              <a:srgbClr val="6B778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20040" y="2377440"/>
            <a:ext cx="1737360" cy="40233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5A6775"/>
                </a:solidFill>
                <a:latin typeface="Noto Sans JP"/>
                <a:ea typeface="Noto Sans JP"/>
              </a:rPr>
              <a:t>SSM の</a:t>
            </a:r>
          </a:p>
          <a:p>
            <a:pPr algn="ctr"/>
            <a:r>
              <a:rPr sz="800" b="0">
                <a:solidFill>
                  <a:srgbClr val="5A6775"/>
                </a:solidFill>
                <a:latin typeface="Noto Sans JP"/>
                <a:ea typeface="Noto Sans JP"/>
              </a:rPr>
              <a:t>ポートフォワーディング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881360" y="1600200"/>
            <a:ext cx="3291840" cy="608076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91088" y="1655064"/>
            <a:ext cx="307238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VPC の外の AWS サービス</a:t>
            </a:r>
          </a:p>
        </p:txBody>
      </p:sp>
      <p:pic>
        <p:nvPicPr>
          <p:cNvPr id="51" name="Picture 50" descr="e1a16bb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09960" y="2103120"/>
            <a:ext cx="384048" cy="38404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1612880" y="2167127"/>
            <a:ext cx="24688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S3 Tables・S3</a:t>
            </a:r>
          </a:p>
        </p:txBody>
      </p:sp>
      <p:pic>
        <p:nvPicPr>
          <p:cNvPr id="53" name="Picture 52" descr="a8dc543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09960" y="2651760"/>
            <a:ext cx="384048" cy="38404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1612880" y="2715768"/>
            <a:ext cx="24688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OpenSearch Serverless</a:t>
            </a:r>
          </a:p>
        </p:txBody>
      </p:sp>
      <p:pic>
        <p:nvPicPr>
          <p:cNvPr id="55" name="Picture 54" descr="44bf651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09960" y="3200400"/>
            <a:ext cx="384048" cy="38404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1612880" y="3264408"/>
            <a:ext cx="24688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Managed Prometheus</a:t>
            </a:r>
          </a:p>
        </p:txBody>
      </p:sp>
      <p:pic>
        <p:nvPicPr>
          <p:cNvPr id="57" name="Picture 56" descr="fab8e39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09960" y="3749039"/>
            <a:ext cx="384048" cy="38404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1612880" y="3813048"/>
            <a:ext cx="24688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Bedrock・AgentCore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109960" y="4297679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C7246B"/>
          </a:solidFill>
          <a:ln w="12700">
            <a:solidFill>
              <a:srgbClr val="C72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064240" y="4297679"/>
            <a:ext cx="475488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Noto Sans JP"/>
                <a:ea typeface="Noto Sans JP"/>
              </a:rPr>
              <a:t>SNS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612880" y="4361688"/>
            <a:ext cx="24688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SNS</a:t>
            </a:r>
          </a:p>
        </p:txBody>
      </p:sp>
      <p:pic>
        <p:nvPicPr>
          <p:cNvPr id="62" name="Picture 61" descr="ef1763f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09960" y="4846320"/>
            <a:ext cx="384048" cy="38404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1612880" y="4910328"/>
            <a:ext cx="24688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SQS</a:t>
            </a:r>
          </a:p>
        </p:txBody>
      </p:sp>
      <p:pic>
        <p:nvPicPr>
          <p:cNvPr id="64" name="Picture 63" descr="c35ba56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09960" y="5394959"/>
            <a:ext cx="384048" cy="38404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1612880" y="5458968"/>
            <a:ext cx="24688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Systems Manager</a:t>
            </a:r>
          </a:p>
        </p:txBody>
      </p:sp>
      <p:pic>
        <p:nvPicPr>
          <p:cNvPr id="66" name="Picture 65" descr="f2b3f3f3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09960" y="5943600"/>
            <a:ext cx="384048" cy="38404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1612880" y="6007608"/>
            <a:ext cx="24688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ECR</a:t>
            </a:r>
          </a:p>
        </p:txBody>
      </p:sp>
      <p:pic>
        <p:nvPicPr>
          <p:cNvPr id="68" name="Picture 67" descr="57e1eeba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09960" y="6492240"/>
            <a:ext cx="384048" cy="38404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1612880" y="6556248"/>
            <a:ext cx="24688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CloudWatch Logs</a:t>
            </a:r>
          </a:p>
        </p:txBody>
      </p:sp>
      <p:pic>
        <p:nvPicPr>
          <p:cNvPr id="70" name="Picture 69" descr="c0a9534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109960" y="7040879"/>
            <a:ext cx="384048" cy="38404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1612880" y="7104888"/>
            <a:ext cx="24688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IAM（閉域の Deny）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0149840" y="6492240"/>
            <a:ext cx="685800" cy="0"/>
          </a:xfrm>
          <a:prstGeom prst="line">
            <a:avLst/>
          </a:prstGeom>
          <a:ln w="19050">
            <a:solidFill>
              <a:srgbClr val="008A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3258800" y="7818120"/>
            <a:ext cx="9144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